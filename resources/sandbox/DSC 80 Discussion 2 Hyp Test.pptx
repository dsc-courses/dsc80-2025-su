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sldIdLst>
    <p:sldId id="256" r:id="rId3"/>
    <p:sldId id="399" r:id="rId4"/>
    <p:sldId id="402" r:id="rId5"/>
    <p:sldId id="405" r:id="rId6"/>
    <p:sldId id="401" r:id="rId7"/>
    <p:sldId id="406" r:id="rId8"/>
    <p:sldId id="404" r:id="rId9"/>
    <p:sldId id="398" r:id="rId10"/>
    <p:sldId id="394" r:id="rId11"/>
    <p:sldId id="395" r:id="rId12"/>
    <p:sldId id="396" r:id="rId13"/>
    <p:sldId id="397" r:id="rId14"/>
    <p:sldId id="40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4" d="100"/>
          <a:sy n="104" d="100"/>
        </p:scale>
        <p:origin x="232"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9B62C-36F5-2E43-A7D0-3EAA6364BF74}" type="datetimeFigureOut">
              <a:rPr lang="en-US" smtClean="0"/>
              <a:t>8/17/25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243D9-319A-6548-8560-55C0DA7C3D19}" type="slidenum">
              <a:rPr lang="en-US" smtClean="0"/>
              <a:t>‹#›</a:t>
            </a:fld>
            <a:endParaRPr lang="en-US"/>
          </a:p>
        </p:txBody>
      </p:sp>
    </p:spTree>
    <p:extLst>
      <p:ext uri="{BB962C8B-B14F-4D97-AF65-F5344CB8AC3E}">
        <p14:creationId xmlns:p14="http://schemas.microsoft.com/office/powerpoint/2010/main" val="81889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35F02-0476-AB9B-5DE6-DFCBFDA54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91B28-7351-4639-F2CB-438119163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BEC8A-DB0D-6373-C745-BBCF272FEA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84A8ED-4131-1149-15BD-93B3C6D95D0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7E32AD-9AF3-4101-B38C-45B71FAEDE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6851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E541-BF91-B3F2-D66D-DB41A41CDA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6A8152-2E85-886B-8342-60817BDBE9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0F1E38-57BD-932E-CFAF-43B8E063F31E}"/>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96650838-7C30-3841-F254-732A0CB85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9CBF6-96A5-05C1-0363-50C87DD18838}"/>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4204466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F499B-2387-19E2-5BC4-24234D30A6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DE56AE-053A-1973-37D0-CA3CDE5EFC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8C6D0-D7D4-10B9-6C4D-F98E653AC07D}"/>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68BA06FB-6EC2-EEB6-5991-529426DDCC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A1207-9866-940E-3670-1363840F1364}"/>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3128174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6582-1C6E-37A3-EB27-BB535EDB70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702702-F786-7DA2-84A5-626048090C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0501F-47C5-4072-638B-639F2EF06802}"/>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743EA07C-9F61-C665-54E8-AFEADF511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2334BB-4873-4486-3F70-07C8E0F431E6}"/>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121232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14CA0-6773-CBD9-0900-E93EB60AD1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BEF56E-3B4C-AED9-6E4A-7AD54547D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B6A103-C11A-4F8E-3083-ECB45EBD11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E90C58-AA54-2EF6-E02F-DE81AD0CFD36}"/>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6" name="Footer Placeholder 5">
            <a:extLst>
              <a:ext uri="{FF2B5EF4-FFF2-40B4-BE49-F238E27FC236}">
                <a16:creationId xmlns:a16="http://schemas.microsoft.com/office/drawing/2014/main" id="{32FBF3D8-121C-414A-7DE8-A8F5639A5A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EC649-3B7D-0B06-DA43-DD8515FE1CBF}"/>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67162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2329-CB0F-76DC-629B-0BEA5EF153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32DDB-E035-8836-1E54-684B08EB2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C2D181-06C2-6071-A4D5-8B837A6FF1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2A0B4A-6B55-64DD-D9A3-687FFA765B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2727F-2E3C-E914-6BDE-3A991E6E39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E392B5-BE60-83A6-FCF2-1779A12E11C4}"/>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8" name="Footer Placeholder 7">
            <a:extLst>
              <a:ext uri="{FF2B5EF4-FFF2-40B4-BE49-F238E27FC236}">
                <a16:creationId xmlns:a16="http://schemas.microsoft.com/office/drawing/2014/main" id="{810C4AA1-9C9A-14E8-4FE5-93A75E2C81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6AB41D-66CD-325C-8883-DDC43ADB3F7D}"/>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2214680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C5184-8A64-8992-081D-BCEDBCD1D8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4499BE-67A2-F8B3-0345-02E769887355}"/>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4" name="Footer Placeholder 3">
            <a:extLst>
              <a:ext uri="{FF2B5EF4-FFF2-40B4-BE49-F238E27FC236}">
                <a16:creationId xmlns:a16="http://schemas.microsoft.com/office/drawing/2014/main" id="{153B7130-DD40-0638-3570-FFBE1EC733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269C9A-84AE-F64E-408A-7B7A1A60156C}"/>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2227168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B38F9-59F6-B312-2BED-D24F600FAB4A}"/>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3" name="Footer Placeholder 2">
            <a:extLst>
              <a:ext uri="{FF2B5EF4-FFF2-40B4-BE49-F238E27FC236}">
                <a16:creationId xmlns:a16="http://schemas.microsoft.com/office/drawing/2014/main" id="{6EEA3E9A-6521-F5B5-89A6-E9D7E9CF58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3CF55F-F631-45DE-F4EB-A3A2D15F4333}"/>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135899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E223-F748-5475-EA18-8C892F1814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460CF-DA33-F0C3-10EE-D21B771AC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71EEE7-D9C2-BF48-2558-09EBCB5FA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F9EE99-21A3-6D2A-ED76-DE48C630B662}"/>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6" name="Footer Placeholder 5">
            <a:extLst>
              <a:ext uri="{FF2B5EF4-FFF2-40B4-BE49-F238E27FC236}">
                <a16:creationId xmlns:a16="http://schemas.microsoft.com/office/drawing/2014/main" id="{8EDB367F-C8F5-DC24-1B64-98D61A6C12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4DF9B-C4DF-992A-8DE8-7607DF5F1DBD}"/>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700558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1E2E-CEF0-F5F0-E948-F0B994564F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1D122-2B4D-50AA-7222-3ABF1BC4D2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7DFBA8-5C66-A9DC-F701-9E87B768F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9E7D2-A592-24E9-8158-DB2966DE9D19}"/>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6" name="Footer Placeholder 5">
            <a:extLst>
              <a:ext uri="{FF2B5EF4-FFF2-40B4-BE49-F238E27FC236}">
                <a16:creationId xmlns:a16="http://schemas.microsoft.com/office/drawing/2014/main" id="{F8082BB3-9C18-5E6C-4279-11745A5BF9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D01FD3-EB4D-D2FD-07C2-40CF6FCD68C9}"/>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3331741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814D0-611F-01D9-1CAB-42EC631CAD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35FBA8-493A-ED3B-86BF-E73FFB6E3B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2BA5E4-FF3F-C728-1350-CFA3F542C3D2}"/>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67B6602A-4F10-642D-271E-1CADFE540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A0EF1-0812-AE0B-6134-C1E44B99C5A4}"/>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376645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7CD441-E04A-4654-DC95-5DA6835951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AB55EC-A05F-0BBE-65CB-7C9B9C6FC1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CB1280-84F4-8433-393D-AAFDD3999761}"/>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F813D1E2-7B3B-29F3-B0C6-4E059FF58B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D738CA-A09E-93DB-F84F-3896E775136B}"/>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1926430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341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20976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1104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652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340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590386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785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92054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067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6AE13D-F8DB-1C8D-713F-5B34992E44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57625C-DE66-A7E1-11CE-4D162BBCF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95B4F-8321-D3BC-F185-EAA87CD84E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19D412A4-B92B-EED6-E299-7755C5939E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ED4F77-9BC7-3F7D-B36A-E2B8C9E64C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A30CBF-B97A-BE4E-B7A1-EFBD787A3B69}" type="slidenum">
              <a:rPr lang="en-US" smtClean="0"/>
              <a:t>‹#›</a:t>
            </a:fld>
            <a:endParaRPr lang="en-US"/>
          </a:p>
        </p:txBody>
      </p:sp>
    </p:spTree>
    <p:extLst>
      <p:ext uri="{BB962C8B-B14F-4D97-AF65-F5344CB8AC3E}">
        <p14:creationId xmlns:p14="http://schemas.microsoft.com/office/powerpoint/2010/main" val="4132059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885947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8.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9.jpeg"/><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7797-C506-02BC-0BF2-67869A23937C}"/>
              </a:ext>
            </a:extLst>
          </p:cNvPr>
          <p:cNvSpPr>
            <a:spLocks noGrp="1"/>
          </p:cNvSpPr>
          <p:nvPr>
            <p:ph type="ctrTitle"/>
          </p:nvPr>
        </p:nvSpPr>
        <p:spPr/>
        <p:txBody>
          <a:bodyPr/>
          <a:lstStyle/>
          <a:p>
            <a:r>
              <a:rPr lang="en-US" dirty="0"/>
              <a:t>DSC 80 Discussion #2</a:t>
            </a:r>
          </a:p>
        </p:txBody>
      </p:sp>
      <p:sp>
        <p:nvSpPr>
          <p:cNvPr id="3" name="Subtitle 2">
            <a:extLst>
              <a:ext uri="{FF2B5EF4-FFF2-40B4-BE49-F238E27FC236}">
                <a16:creationId xmlns:a16="http://schemas.microsoft.com/office/drawing/2014/main" id="{30B76C06-3520-6E6A-5C05-B82F5399BBF3}"/>
              </a:ext>
            </a:extLst>
          </p:cNvPr>
          <p:cNvSpPr>
            <a:spLocks noGrp="1"/>
          </p:cNvSpPr>
          <p:nvPr>
            <p:ph type="subTitle" idx="1"/>
          </p:nvPr>
        </p:nvSpPr>
        <p:spPr/>
        <p:txBody>
          <a:bodyPr/>
          <a:lstStyle/>
          <a:p>
            <a:r>
              <a:rPr lang="en-US" dirty="0"/>
              <a:t>Hypothesis Testing</a:t>
            </a:r>
          </a:p>
          <a:p>
            <a:r>
              <a:rPr lang="en-US" dirty="0"/>
              <a:t>Permutation Tests</a:t>
            </a:r>
          </a:p>
        </p:txBody>
      </p:sp>
    </p:spTree>
    <p:extLst>
      <p:ext uri="{BB962C8B-B14F-4D97-AF65-F5344CB8AC3E}">
        <p14:creationId xmlns:p14="http://schemas.microsoft.com/office/powerpoint/2010/main" val="605201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1760C-9778-D44A-F893-2ADEBC114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B6F34-CF96-1302-E4F8-C801F6ED6B37}"/>
              </a:ext>
            </a:extLst>
          </p:cNvPr>
          <p:cNvSpPr>
            <a:spLocks noGrp="1"/>
          </p:cNvSpPr>
          <p:nvPr>
            <p:ph type="title"/>
          </p:nvPr>
        </p:nvSpPr>
        <p:spPr/>
        <p:txBody>
          <a:bodyPr/>
          <a:lstStyle/>
          <a:p>
            <a:r>
              <a:rPr lang="en-US" dirty="0"/>
              <a:t>THE LOTTERY! </a:t>
            </a:r>
          </a:p>
        </p:txBody>
      </p:sp>
      <p:sp>
        <p:nvSpPr>
          <p:cNvPr id="6" name="TextBox 5">
            <a:extLst>
              <a:ext uri="{FF2B5EF4-FFF2-40B4-BE49-F238E27FC236}">
                <a16:creationId xmlns:a16="http://schemas.microsoft.com/office/drawing/2014/main" id="{DFA15F8A-F540-EE14-FD52-F7D687ECD9C9}"/>
              </a:ext>
            </a:extLst>
          </p:cNvPr>
          <p:cNvSpPr txBox="1"/>
          <p:nvPr/>
        </p:nvSpPr>
        <p:spPr>
          <a:xfrm>
            <a:off x="302046" y="1676400"/>
            <a:ext cx="11587908" cy="53553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Bivin is playing</a:t>
            </a:r>
            <a:r>
              <a:rPr kumimoji="0" lang="en-US" sz="1800" b="0" i="0" u="none" strike="noStrike" kern="1200" cap="none" spc="0" normalizeH="0" noProof="0" dirty="0">
                <a:ln>
                  <a:noFill/>
                </a:ln>
                <a:solidFill>
                  <a:srgbClr val="000000"/>
                </a:solidFill>
                <a:effectLst/>
                <a:uLnTx/>
                <a:uFillTx/>
                <a:latin typeface="Arial"/>
                <a:ea typeface="+mn-ea"/>
                <a:cs typeface="+mn-cs"/>
              </a:rPr>
              <a:t> fair.</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Bivin won the lottery 10 times … in a row! </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The probably is very very very very very …. Very very small that I would win the lotter 10 times in a row.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IF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I am playing fair.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Decision: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0000"/>
                </a:solidFill>
                <a:latin typeface="Arial"/>
              </a:rPr>
              <a:t>Reject Ho: Bivin is playing fair.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Conclusion: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0000"/>
                </a:solidFill>
                <a:latin typeface="Arial"/>
              </a:rPr>
              <a:t>There is overwhelming evidence to suggest that Bivin is not playing fair. </a:t>
            </a: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ED93FD5-9C0A-CD5C-53E9-9A91F78F8820}"/>
                  </a:ext>
                </a:extLst>
              </p:cNvPr>
              <p:cNvSpPr txBox="1"/>
              <p:nvPr/>
            </p:nvSpPr>
            <p:spPr>
              <a:xfrm>
                <a:off x="7543800" y="1524000"/>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𝐵𝑖𝑣𝑖𝑛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𝑃𝑙𝑎𝑦𝑖𝑛𝑔</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𝐹𝑎𝑖𝑟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𝐵𝑖𝑣𝑖𝑛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𝑁𝑜𝑡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𝑃𝑙𝑎𝑦𝑖𝑛𝑔</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𝐹𝑎𝑖𝑟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p:sp>
            <p:nvSpPr>
              <p:cNvPr id="19" name="TextBox 18">
                <a:extLst>
                  <a:ext uri="{FF2B5EF4-FFF2-40B4-BE49-F238E27FC236}">
                    <a16:creationId xmlns:a16="http://schemas.microsoft.com/office/drawing/2014/main" id="{5ED93FD5-9C0A-CD5C-53E9-9A91F78F8820}"/>
                  </a:ext>
                </a:extLst>
              </p:cNvPr>
              <p:cNvSpPr txBox="1">
                <a:spLocks noRot="1" noChangeAspect="1" noMove="1" noResize="1" noEditPoints="1" noAdjustHandles="1" noChangeArrowheads="1" noChangeShapeType="1" noTextEdit="1"/>
              </p:cNvSpPr>
              <p:nvPr/>
            </p:nvSpPr>
            <p:spPr>
              <a:xfrm>
                <a:off x="7543800" y="1524000"/>
                <a:ext cx="1953202" cy="646331"/>
              </a:xfrm>
              <a:prstGeom prst="rect">
                <a:avLst/>
              </a:prstGeom>
              <a:blipFill>
                <a:blip r:embed="rId2"/>
                <a:stretch>
                  <a:fillRect r="-47403" b="-9804"/>
                </a:stretch>
              </a:blipFill>
            </p:spPr>
            <p:txBody>
              <a:bodyPr/>
              <a:lstStyle/>
              <a:p>
                <a:r>
                  <a:rPr lang="en-US">
                    <a:noFill/>
                  </a:rPr>
                  <a:t> </a:t>
                </a:r>
              </a:p>
            </p:txBody>
          </p:sp>
        </mc:Fallback>
      </mc:AlternateContent>
    </p:spTree>
    <p:extLst>
      <p:ext uri="{BB962C8B-B14F-4D97-AF65-F5344CB8AC3E}">
        <p14:creationId xmlns:p14="http://schemas.microsoft.com/office/powerpoint/2010/main" val="221099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fade">
                                      <p:cBhvr>
                                        <p:cTn id="33" dur="500"/>
                                        <p:tgtEl>
                                          <p:spTgt spid="6">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9" end="9"/>
                                            </p:txEl>
                                          </p:spTgt>
                                        </p:tgtEl>
                                        <p:attrNameLst>
                                          <p:attrName>style.visibility</p:attrName>
                                        </p:attrNameLst>
                                      </p:cBhvr>
                                      <p:to>
                                        <p:strVal val="visible"/>
                                      </p:to>
                                    </p:set>
                                    <p:animEffect transition="in" filter="fade">
                                      <p:cBhvr>
                                        <p:cTn id="38" dur="500"/>
                                        <p:tgtEl>
                                          <p:spTgt spid="6">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animEffect transition="in" filter="fade">
                                      <p:cBhvr>
                                        <p:cTn id="43" dur="500"/>
                                        <p:tgtEl>
                                          <p:spTgt spid="6">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xEl>
                                              <p:pRg st="13" end="13"/>
                                            </p:txEl>
                                          </p:spTgt>
                                        </p:tgtEl>
                                        <p:attrNameLst>
                                          <p:attrName>style.visibility</p:attrName>
                                        </p:attrNameLst>
                                      </p:cBhvr>
                                      <p:to>
                                        <p:strVal val="visible"/>
                                      </p:to>
                                    </p:set>
                                    <p:animEffect transition="in" filter="fade">
                                      <p:cBhvr>
                                        <p:cTn id="48" dur="500"/>
                                        <p:tgtEl>
                                          <p:spTgt spid="6">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6">
                                            <p:txEl>
                                              <p:pRg st="14" end="14"/>
                                            </p:txEl>
                                          </p:spTgt>
                                        </p:tgtEl>
                                        <p:attrNameLst>
                                          <p:attrName>style.visibility</p:attrName>
                                        </p:attrNameLst>
                                      </p:cBhvr>
                                      <p:to>
                                        <p:strVal val="visible"/>
                                      </p:to>
                                    </p:set>
                                    <p:animEffect transition="in" filter="fade">
                                      <p:cBhvr>
                                        <p:cTn id="53" dur="500"/>
                                        <p:tgtEl>
                                          <p:spTgt spid="6">
                                            <p:txEl>
                                              <p:pRg st="14" end="1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6">
                                            <p:txEl>
                                              <p:pRg st="16" end="16"/>
                                            </p:txEl>
                                          </p:spTgt>
                                        </p:tgtEl>
                                        <p:attrNameLst>
                                          <p:attrName>style.visibility</p:attrName>
                                        </p:attrNameLst>
                                      </p:cBhvr>
                                      <p:to>
                                        <p:strVal val="visible"/>
                                      </p:to>
                                    </p:set>
                                    <p:animEffect transition="in" filter="fade">
                                      <p:cBhvr>
                                        <p:cTn id="58" dur="500"/>
                                        <p:tgtEl>
                                          <p:spTgt spid="6">
                                            <p:txEl>
                                              <p:pRg st="16" end="1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xEl>
                                              <p:pRg st="17" end="17"/>
                                            </p:txEl>
                                          </p:spTgt>
                                        </p:tgtEl>
                                        <p:attrNameLst>
                                          <p:attrName>style.visibility</p:attrName>
                                        </p:attrNameLst>
                                      </p:cBhvr>
                                      <p:to>
                                        <p:strVal val="visible"/>
                                      </p:to>
                                    </p:set>
                                    <p:animEffect transition="in" filter="fade">
                                      <p:cBhvr>
                                        <p:cTn id="63" dur="500"/>
                                        <p:tgtEl>
                                          <p:spTgt spid="6">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50F8C-F99C-98AA-8130-3F0E12085D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9E7233-42E2-029B-BA43-85299FFB96E6}"/>
              </a:ext>
            </a:extLst>
          </p:cNvPr>
          <p:cNvSpPr>
            <a:spLocks noGrp="1"/>
          </p:cNvSpPr>
          <p:nvPr>
            <p:ph idx="1"/>
          </p:nvPr>
        </p:nvSpPr>
        <p:spPr/>
        <p:txBody>
          <a:bodyPr/>
          <a:lstStyle/>
          <a:p>
            <a:endParaRPr lang="en-US"/>
          </a:p>
        </p:txBody>
      </p:sp>
      <p:pic>
        <p:nvPicPr>
          <p:cNvPr id="1026" name="Picture 2" descr="Las Vegas Table Games | Craps, Roulette &amp; Baccarat | Sunset Station">
            <a:extLst>
              <a:ext uri="{FF2B5EF4-FFF2-40B4-BE49-F238E27FC236}">
                <a16:creationId xmlns:a16="http://schemas.microsoft.com/office/drawing/2014/main" id="{941A1D6D-7B68-271E-208E-9BB2430ED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596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ADB07-F28E-B6C0-93B8-79A24C310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6EF34-2458-47BE-4C07-F31144D6C9B3}"/>
              </a:ext>
            </a:extLst>
          </p:cNvPr>
          <p:cNvSpPr>
            <a:spLocks noGrp="1"/>
          </p:cNvSpPr>
          <p:nvPr>
            <p:ph type="title"/>
          </p:nvPr>
        </p:nvSpPr>
        <p:spPr/>
        <p:txBody>
          <a:bodyPr/>
          <a:lstStyle/>
          <a:p>
            <a:r>
              <a:rPr lang="en-US" dirty="0"/>
              <a:t>Break Out!</a:t>
            </a:r>
          </a:p>
        </p:txBody>
      </p:sp>
      <p:sp>
        <p:nvSpPr>
          <p:cNvPr id="3" name="Content Placeholder 2">
            <a:extLst>
              <a:ext uri="{FF2B5EF4-FFF2-40B4-BE49-F238E27FC236}">
                <a16:creationId xmlns:a16="http://schemas.microsoft.com/office/drawing/2014/main" id="{9CA03191-6814-C513-7A05-50CFBFCA4BB9}"/>
              </a:ext>
            </a:extLst>
          </p:cNvPr>
          <p:cNvSpPr>
            <a:spLocks noGrp="1"/>
          </p:cNvSpPr>
          <p:nvPr>
            <p:ph idx="1"/>
          </p:nvPr>
        </p:nvSpPr>
        <p:spPr/>
        <p:txBody>
          <a:bodyPr/>
          <a:lstStyle/>
          <a:p>
            <a:pPr marL="0" indent="0">
              <a:buNone/>
            </a:pPr>
            <a:r>
              <a:rPr lang="en-US" dirty="0"/>
              <a:t>Test if a given die is fair!</a:t>
            </a:r>
          </a:p>
        </p:txBody>
      </p:sp>
      <p:pic>
        <p:nvPicPr>
          <p:cNvPr id="4" name="Picture 2" descr="Las Vegas Table Games | Craps, Roulette &amp; Baccarat | Sunset Station">
            <a:extLst>
              <a:ext uri="{FF2B5EF4-FFF2-40B4-BE49-F238E27FC236}">
                <a16:creationId xmlns:a16="http://schemas.microsoft.com/office/drawing/2014/main" id="{E8C38B49-6192-7E27-FACD-C82F024CB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3276" y="2752469"/>
            <a:ext cx="7298724" cy="4105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87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E858-438F-17C2-D1B8-096B046AB2E1}"/>
              </a:ext>
            </a:extLst>
          </p:cNvPr>
          <p:cNvSpPr>
            <a:spLocks noGrp="1"/>
          </p:cNvSpPr>
          <p:nvPr>
            <p:ph type="title"/>
          </p:nvPr>
        </p:nvSpPr>
        <p:spPr>
          <a:xfrm>
            <a:off x="186557" y="4586173"/>
            <a:ext cx="11818883" cy="1325563"/>
          </a:xfrm>
        </p:spPr>
        <p:txBody>
          <a:bodyPr>
            <a:noAutofit/>
          </a:bodyPr>
          <a:lstStyle/>
          <a:p>
            <a:br>
              <a:rPr lang="en-US" sz="2800" b="1" dirty="0"/>
            </a:br>
            <a:r>
              <a:rPr lang="en-US" sz="2800" b="1" dirty="0"/>
              <a:t>Strategy:</a:t>
            </a:r>
            <a:br>
              <a:rPr lang="en-US" sz="2800" b="1" dirty="0"/>
            </a:br>
            <a:r>
              <a:rPr lang="en-US" sz="2400" dirty="0"/>
              <a:t>You run an experiment and roll a 6-sided die 120 times, record the counts of each face</a:t>
            </a:r>
            <a:br>
              <a:rPr lang="en-US" sz="2800" dirty="0"/>
            </a:br>
            <a:endParaRPr lang="en-US" sz="2800" dirty="0"/>
          </a:p>
        </p:txBody>
      </p:sp>
      <p:sp>
        <p:nvSpPr>
          <p:cNvPr id="7" name="TextBox 6">
            <a:extLst>
              <a:ext uri="{FF2B5EF4-FFF2-40B4-BE49-F238E27FC236}">
                <a16:creationId xmlns:a16="http://schemas.microsoft.com/office/drawing/2014/main" id="{0EEBF15F-2C91-739B-099C-057365EDCBA4}"/>
              </a:ext>
            </a:extLst>
          </p:cNvPr>
          <p:cNvSpPr txBox="1"/>
          <p:nvPr/>
        </p:nvSpPr>
        <p:spPr>
          <a:xfrm>
            <a:off x="1755228" y="335594"/>
            <a:ext cx="8681544" cy="707886"/>
          </a:xfrm>
          <a:prstGeom prst="rect">
            <a:avLst/>
          </a:prstGeom>
          <a:noFill/>
        </p:spPr>
        <p:txBody>
          <a:bodyPr wrap="square">
            <a:spAutoFit/>
          </a:bodyPr>
          <a:lstStyle/>
          <a:p>
            <a:pPr algn="ctr"/>
            <a:r>
              <a:rPr lang="en-US" sz="4000" b="1" dirty="0"/>
              <a:t>🎲 Example: Testing If a Die Is Fair 🎲 </a:t>
            </a:r>
            <a:endParaRPr lang="en-US" sz="4000" dirty="0"/>
          </a:p>
        </p:txBody>
      </p:sp>
      <p:sp>
        <p:nvSpPr>
          <p:cNvPr id="8" name="Title 1">
            <a:extLst>
              <a:ext uri="{FF2B5EF4-FFF2-40B4-BE49-F238E27FC236}">
                <a16:creationId xmlns:a16="http://schemas.microsoft.com/office/drawing/2014/main" id="{AF803048-42EA-83C9-E4C6-10F0A925096C}"/>
              </a:ext>
            </a:extLst>
          </p:cNvPr>
          <p:cNvSpPr txBox="1">
            <a:spLocks/>
          </p:cNvSpPr>
          <p:nvPr/>
        </p:nvSpPr>
        <p:spPr>
          <a:xfrm>
            <a:off x="186558" y="1094065"/>
            <a:ext cx="1181888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2800" b="1" dirty="0"/>
            </a:br>
            <a:r>
              <a:rPr lang="en-US" sz="2800" b="1" dirty="0"/>
              <a:t>Scenario:</a:t>
            </a:r>
            <a:br>
              <a:rPr lang="en-US" sz="2800" b="1" dirty="0"/>
            </a:br>
            <a:r>
              <a:rPr lang="en-US" sz="2800" dirty="0"/>
              <a:t>You want to test if a 6-sided dice is fair.</a:t>
            </a:r>
          </a:p>
        </p:txBody>
      </p:sp>
      <p:sp>
        <p:nvSpPr>
          <p:cNvPr id="9" name="Title 1">
            <a:extLst>
              <a:ext uri="{FF2B5EF4-FFF2-40B4-BE49-F238E27FC236}">
                <a16:creationId xmlns:a16="http://schemas.microsoft.com/office/drawing/2014/main" id="{34362DFF-043F-59F7-5831-9F617E1ECF40}"/>
              </a:ext>
            </a:extLst>
          </p:cNvPr>
          <p:cNvSpPr txBox="1">
            <a:spLocks/>
          </p:cNvSpPr>
          <p:nvPr/>
        </p:nvSpPr>
        <p:spPr>
          <a:xfrm>
            <a:off x="186557" y="2766218"/>
            <a:ext cx="1181888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2800" b="1" dirty="0"/>
            </a:br>
            <a:r>
              <a:rPr lang="en-US" sz="2800" b="1" dirty="0"/>
              <a:t>Thought:</a:t>
            </a:r>
            <a:br>
              <a:rPr lang="en-US" sz="2800" b="1" dirty="0"/>
            </a:br>
            <a:r>
              <a:rPr lang="en-US" sz="2800" dirty="0"/>
              <a:t>What does this mean mathematically?</a:t>
            </a:r>
          </a:p>
        </p:txBody>
      </p:sp>
      <p:sp>
        <p:nvSpPr>
          <p:cNvPr id="11" name="TextBox 10">
            <a:extLst>
              <a:ext uri="{FF2B5EF4-FFF2-40B4-BE49-F238E27FC236}">
                <a16:creationId xmlns:a16="http://schemas.microsoft.com/office/drawing/2014/main" id="{360C170C-B12E-BED5-8C9B-894D8C52AAEC}"/>
              </a:ext>
            </a:extLst>
          </p:cNvPr>
          <p:cNvSpPr txBox="1"/>
          <p:nvPr/>
        </p:nvSpPr>
        <p:spPr>
          <a:xfrm>
            <a:off x="3013840" y="6153074"/>
            <a:ext cx="6164316" cy="369332"/>
          </a:xfrm>
          <a:prstGeom prst="rect">
            <a:avLst/>
          </a:prstGeom>
          <a:noFill/>
        </p:spPr>
        <p:txBody>
          <a:bodyPr wrap="square">
            <a:spAutoFit/>
          </a:bodyPr>
          <a:lstStyle/>
          <a:p>
            <a:pPr algn="ctr"/>
            <a:r>
              <a:rPr lang="en-US" dirty="0"/>
              <a:t>[5, 28, 25, 20, 22, 20]</a:t>
            </a:r>
          </a:p>
        </p:txBody>
      </p:sp>
    </p:spTree>
    <p:extLst>
      <p:ext uri="{BB962C8B-B14F-4D97-AF65-F5344CB8AC3E}">
        <p14:creationId xmlns:p14="http://schemas.microsoft.com/office/powerpoint/2010/main" val="2438939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D1A16-3804-EB3F-EAF3-317CD0E4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0CBFA-E6D4-C33D-2CD4-37E10180C5CA}"/>
              </a:ext>
            </a:extLst>
          </p:cNvPr>
          <p:cNvSpPr>
            <a:spLocks noGrp="1"/>
          </p:cNvSpPr>
          <p:nvPr>
            <p:ph type="title"/>
          </p:nvPr>
        </p:nvSpPr>
        <p:spPr/>
        <p:txBody>
          <a:bodyPr/>
          <a:lstStyle/>
          <a:p>
            <a:r>
              <a:rPr lang="en-US" dirty="0"/>
              <a:t>Fair Die?</a:t>
            </a:r>
          </a:p>
        </p:txBody>
      </p:sp>
      <p:sp>
        <p:nvSpPr>
          <p:cNvPr id="6" name="TextBox 5">
            <a:extLst>
              <a:ext uri="{FF2B5EF4-FFF2-40B4-BE49-F238E27FC236}">
                <a16:creationId xmlns:a16="http://schemas.microsoft.com/office/drawing/2014/main" id="{46832EDC-0A5A-D71C-86B7-8419880912BE}"/>
              </a:ext>
            </a:extLst>
          </p:cNvPr>
          <p:cNvSpPr txBox="1"/>
          <p:nvPr/>
        </p:nvSpPr>
        <p:spPr>
          <a:xfrm>
            <a:off x="302046" y="1597572"/>
            <a:ext cx="11587908"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die is fair. Each probability is 1/6.</a:t>
            </a:r>
            <a:r>
              <a:rPr kumimoji="0" lang="en-US" sz="1800" b="0" i="0" u="none" strike="noStrike" kern="1200" cap="none" spc="0" normalizeH="0" noProof="0" dirty="0">
                <a:ln>
                  <a:noFill/>
                </a:ln>
                <a:solidFill>
                  <a:srgbClr val="000000"/>
                </a:solidFill>
                <a:effectLst/>
                <a:uLnTx/>
                <a:uFillTx/>
                <a:latin typeface="Arial"/>
                <a:ea typeface="+mn-ea"/>
                <a:cs typeface="+mn-cs"/>
              </a:rPr>
              <a:t>  </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0000"/>
                </a:solidFill>
                <a:latin typeface="Arial"/>
              </a:rPr>
              <a:t>Count the proportion of each number that comes up in 120 tries. </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Calculate the proportion that each face came up in the 120 trials.  Use TVD and simulations to see how rare this would be if</a:t>
            </a:r>
            <a:endParaRPr lang="en-US" b="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IF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srgbClr val="000000"/>
              </a:solidFill>
              <a:effectLst/>
              <a:uLnTx/>
              <a:uFillTx/>
              <a:latin typeface="Arial"/>
            </a:endParaRPr>
          </a:p>
          <a:p>
            <a:pPr lvl="0"/>
            <a:r>
              <a:rPr lang="en-US" b="1" dirty="0">
                <a:solidFill>
                  <a:srgbClr val="000000"/>
                </a:solidFill>
                <a:latin typeface="Arial"/>
              </a:rPr>
              <a:t>the die were fair.</a:t>
            </a:r>
          </a:p>
          <a:p>
            <a:pPr lvl="0"/>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Decision: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Conclusion: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F7321B7-2F6F-CF94-2D47-C7E2988CAE26}"/>
                  </a:ext>
                </a:extLst>
              </p:cNvPr>
              <p:cNvSpPr txBox="1"/>
              <p:nvPr/>
            </p:nvSpPr>
            <p:spPr>
              <a:xfrm>
                <a:off x="5630917" y="1597572"/>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𝑇h𝑒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𝑑𝑖𝑒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𝑖𝑠</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𝑓𝑎𝑖𝑟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𝑇h𝑒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𝑑𝑖𝑒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𝑖𝑠</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𝑛𝑜𝑡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𝑓𝑎𝑖𝑟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p:sp>
            <p:nvSpPr>
              <p:cNvPr id="19" name="TextBox 18">
                <a:extLst>
                  <a:ext uri="{FF2B5EF4-FFF2-40B4-BE49-F238E27FC236}">
                    <a16:creationId xmlns:a16="http://schemas.microsoft.com/office/drawing/2014/main" id="{0F7321B7-2F6F-CF94-2D47-C7E2988CAE26}"/>
                  </a:ext>
                </a:extLst>
              </p:cNvPr>
              <p:cNvSpPr txBox="1">
                <a:spLocks noRot="1" noChangeAspect="1" noMove="1" noResize="1" noEditPoints="1" noAdjustHandles="1" noChangeArrowheads="1" noChangeShapeType="1" noTextEdit="1"/>
              </p:cNvSpPr>
              <p:nvPr/>
            </p:nvSpPr>
            <p:spPr>
              <a:xfrm>
                <a:off x="5630917" y="1597572"/>
                <a:ext cx="1953202" cy="646331"/>
              </a:xfrm>
              <a:prstGeom prst="rect">
                <a:avLst/>
              </a:prstGeom>
              <a:blipFill>
                <a:blip r:embed="rId2"/>
                <a:stretch>
                  <a:fillRect r="-23871" b="-9615"/>
                </a:stretch>
              </a:blipFill>
            </p:spPr>
            <p:txBody>
              <a:bodyPr/>
              <a:lstStyle/>
              <a:p>
                <a:r>
                  <a:rPr lang="en-US">
                    <a:noFill/>
                  </a:rPr>
                  <a:t> </a:t>
                </a:r>
              </a:p>
            </p:txBody>
          </p:sp>
        </mc:Fallback>
      </mc:AlternateContent>
    </p:spTree>
    <p:extLst>
      <p:ext uri="{BB962C8B-B14F-4D97-AF65-F5344CB8AC3E}">
        <p14:creationId xmlns:p14="http://schemas.microsoft.com/office/powerpoint/2010/main" val="217579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fade">
                                      <p:cBhvr>
                                        <p:cTn id="30" dur="500"/>
                                        <p:tgtEl>
                                          <p:spTgt spid="6">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animEffect transition="in" filter="fade">
                                      <p:cBhvr>
                                        <p:cTn id="35" dur="500"/>
                                        <p:tgtEl>
                                          <p:spTgt spid="6">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xEl>
                                              <p:pRg st="9" end="9"/>
                                            </p:txEl>
                                          </p:spTgt>
                                        </p:tgtEl>
                                        <p:attrNameLst>
                                          <p:attrName>style.visibility</p:attrName>
                                        </p:attrNameLst>
                                      </p:cBhvr>
                                      <p:to>
                                        <p:strVal val="visible"/>
                                      </p:to>
                                    </p:set>
                                    <p:animEffect transition="in" filter="fade">
                                      <p:cBhvr>
                                        <p:cTn id="40" dur="500"/>
                                        <p:tgtEl>
                                          <p:spTgt spid="6">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
                                            <p:txEl>
                                              <p:pRg st="11" end="11"/>
                                            </p:txEl>
                                          </p:spTgt>
                                        </p:tgtEl>
                                        <p:attrNameLst>
                                          <p:attrName>style.visibility</p:attrName>
                                        </p:attrNameLst>
                                      </p:cBhvr>
                                      <p:to>
                                        <p:strVal val="visible"/>
                                      </p:to>
                                    </p:set>
                                    <p:animEffect transition="in" filter="fade">
                                      <p:cBhvr>
                                        <p:cTn id="45" dur="500"/>
                                        <p:tgtEl>
                                          <p:spTgt spid="6">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
                                            <p:txEl>
                                              <p:pRg st="13" end="13"/>
                                            </p:txEl>
                                          </p:spTgt>
                                        </p:tgtEl>
                                        <p:attrNameLst>
                                          <p:attrName>style.visibility</p:attrName>
                                        </p:attrNameLst>
                                      </p:cBhvr>
                                      <p:to>
                                        <p:strVal val="visible"/>
                                      </p:to>
                                    </p:set>
                                    <p:animEffect transition="in" filter="fade">
                                      <p:cBhvr>
                                        <p:cTn id="50" dur="500"/>
                                        <p:tgtEl>
                                          <p:spTgt spid="6">
                                            <p:txEl>
                                              <p:pRg st="13" end="1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xEl>
                                              <p:pRg st="15" end="15"/>
                                            </p:txEl>
                                          </p:spTgt>
                                        </p:tgtEl>
                                        <p:attrNameLst>
                                          <p:attrName>style.visibility</p:attrName>
                                        </p:attrNameLst>
                                      </p:cBhvr>
                                      <p:to>
                                        <p:strVal val="visible"/>
                                      </p:to>
                                    </p:set>
                                    <p:animEffect transition="in" filter="fade">
                                      <p:cBhvr>
                                        <p:cTn id="55" dur="500"/>
                                        <p:tgtEl>
                                          <p:spTgt spid="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FDCB0-E4B5-8714-B02E-A6D696422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28332-E4BA-D635-6DC6-33EF74C8365C}"/>
              </a:ext>
            </a:extLst>
          </p:cNvPr>
          <p:cNvSpPr>
            <a:spLocks noGrp="1"/>
          </p:cNvSpPr>
          <p:nvPr>
            <p:ph type="title"/>
          </p:nvPr>
        </p:nvSpPr>
        <p:spPr/>
        <p:txBody>
          <a:bodyPr/>
          <a:lstStyle/>
          <a:p>
            <a:r>
              <a:rPr lang="en-US" dirty="0"/>
              <a:t>Fair Die?</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78934B9-A39A-8AF0-7CC4-9D285F8F1791}"/>
                  </a:ext>
                </a:extLst>
              </p:cNvPr>
              <p:cNvSpPr txBox="1"/>
              <p:nvPr/>
            </p:nvSpPr>
            <p:spPr>
              <a:xfrm>
                <a:off x="302046" y="1502688"/>
                <a:ext cx="11587908" cy="53553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die is fair. Each probability is 1/6.</a:t>
                </a:r>
                <a:r>
                  <a:rPr kumimoji="0" lang="en-US" sz="1800" b="0" i="0" u="none" strike="noStrike" kern="1200" cap="none" spc="0" normalizeH="0" noProof="0" dirty="0">
                    <a:ln>
                      <a:noFill/>
                    </a:ln>
                    <a:solidFill>
                      <a:srgbClr val="000000"/>
                    </a:solidFill>
                    <a:effectLst/>
                    <a:uLnTx/>
                    <a:uFillTx/>
                    <a:latin typeface="Arial"/>
                    <a:ea typeface="+mn-ea"/>
                    <a:cs typeface="+mn-cs"/>
                  </a:rPr>
                  <a:t>  </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0000"/>
                    </a:solidFill>
                    <a:latin typeface="Arial"/>
                  </a:rPr>
                  <a:t>Count the proportion of each number that comes up in 120 tries. </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Calculate the proportion that each face came up in the 120 trials.  Use TVD and simulations to see how rare this would be if</a:t>
                </a:r>
                <a:endParaRPr lang="en-US" b="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IF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srgbClr val="000000"/>
                  </a:solidFill>
                  <a:effectLst/>
                  <a:uLnTx/>
                  <a:uFillTx/>
                  <a:latin typeface="Arial"/>
                </a:endParaRPr>
              </a:p>
              <a:p>
                <a:pPr lvl="0"/>
                <a:r>
                  <a:rPr lang="en-US" b="1" dirty="0">
                    <a:solidFill>
                      <a:srgbClr val="000000"/>
                    </a:solidFill>
                    <a:latin typeface="Arial"/>
                  </a:rPr>
                  <a:t>the die were fair.</a:t>
                </a:r>
              </a:p>
              <a:p>
                <a:pPr lvl="0"/>
                <a:r>
                  <a:rPr lang="en-US" b="1" dirty="0">
                    <a:solidFill>
                      <a:srgbClr val="000000"/>
                    </a:solidFill>
                    <a:latin typeface="Arial"/>
                  </a:rPr>
                  <a:t>This probability: </a:t>
                </a:r>
                <a:r>
                  <a:rPr lang="en-US" b="1" dirty="0" err="1">
                    <a:solidFill>
                      <a:srgbClr val="000000"/>
                    </a:solidFill>
                    <a:latin typeface="Arial"/>
                  </a:rPr>
                  <a:t>pvalue</a:t>
                </a:r>
                <a:r>
                  <a:rPr lang="en-US" b="1" dirty="0">
                    <a:solidFill>
                      <a:srgbClr val="000000"/>
                    </a:solidFill>
                    <a:latin typeface="Arial"/>
                  </a:rPr>
                  <a:t> &gt; .08</a:t>
                </a:r>
              </a:p>
              <a:p>
                <a:pPr lvl="0"/>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Decision: Fail to reject Ho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Conclusion:   There is not enough evidence to suggest that this die is not fair. </a:t>
                </a:r>
                <a:r>
                  <a:rPr lang="en-US" b="1" dirty="0">
                    <a:solidFill>
                      <a:srgbClr val="000000"/>
                    </a:solidFill>
                    <a:latin typeface="Arial"/>
                  </a:rPr>
                  <a:t>(</a:t>
                </a:r>
                <a:r>
                  <a:rPr lang="en-US" b="1" dirty="0" err="1">
                    <a:solidFill>
                      <a:srgbClr val="000000"/>
                    </a:solidFill>
                    <a:latin typeface="Arial"/>
                  </a:rPr>
                  <a:t>pvalue</a:t>
                </a:r>
                <a:r>
                  <a:rPr lang="en-US" b="1" dirty="0">
                    <a:solidFill>
                      <a:srgbClr val="000000"/>
                    </a:solidFill>
                    <a:latin typeface="Arial"/>
                  </a:rPr>
                  <a:t> </a:t>
                </a:r>
                <a14:m>
                  <m:oMath xmlns:m="http://schemas.openxmlformats.org/officeDocument/2006/math">
                    <m:r>
                      <a:rPr lang="en-US" b="1" i="1" smtClean="0">
                        <a:solidFill>
                          <a:srgbClr val="000000"/>
                        </a:solidFill>
                        <a:latin typeface="Cambria Math" panose="02040503050406030204" pitchFamily="18" charset="0"/>
                        <a:ea typeface="Cambria Math" panose="02040503050406030204" pitchFamily="18" charset="0"/>
                      </a:rPr>
                      <m:t>≅</m:t>
                    </m:r>
                  </m:oMath>
                </a14:m>
                <a:r>
                  <a:rPr lang="en-US" b="1" dirty="0">
                    <a:solidFill>
                      <a:srgbClr val="000000"/>
                    </a:solidFill>
                    <a:latin typeface="Arial"/>
                  </a:rPr>
                  <a:t> .08).</a:t>
                </a:r>
                <a:endParaRPr lang="en-US" b="1" noProof="0"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p:sp>
            <p:nvSpPr>
              <p:cNvPr id="6" name="TextBox 5">
                <a:extLst>
                  <a:ext uri="{FF2B5EF4-FFF2-40B4-BE49-F238E27FC236}">
                    <a16:creationId xmlns:a16="http://schemas.microsoft.com/office/drawing/2014/main" id="{C78934B9-A39A-8AF0-7CC4-9D285F8F1791}"/>
                  </a:ext>
                </a:extLst>
              </p:cNvPr>
              <p:cNvSpPr txBox="1">
                <a:spLocks noRot="1" noChangeAspect="1" noMove="1" noResize="1" noEditPoints="1" noAdjustHandles="1" noChangeArrowheads="1" noChangeShapeType="1" noTextEdit="1"/>
              </p:cNvSpPr>
              <p:nvPr/>
            </p:nvSpPr>
            <p:spPr>
              <a:xfrm>
                <a:off x="302046" y="1502688"/>
                <a:ext cx="11587908" cy="5355312"/>
              </a:xfrm>
              <a:prstGeom prst="rect">
                <a:avLst/>
              </a:prstGeom>
              <a:blipFill>
                <a:blip r:embed="rId2"/>
                <a:stretch>
                  <a:fillRect l="-548" t="-4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43AE318-7315-615B-1E8A-B71671949A31}"/>
                  </a:ext>
                </a:extLst>
              </p:cNvPr>
              <p:cNvSpPr txBox="1"/>
              <p:nvPr/>
            </p:nvSpPr>
            <p:spPr>
              <a:xfrm>
                <a:off x="5630917" y="1597572"/>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𝑇h𝑒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𝑑𝑖𝑒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𝑖𝑠</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𝑓𝑎𝑖𝑟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𝑇h𝑒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𝑑𝑖𝑒</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𝑖𝑠</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𝑛𝑜𝑡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𝑓𝑎𝑖𝑟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p:sp>
            <p:nvSpPr>
              <p:cNvPr id="19" name="TextBox 18">
                <a:extLst>
                  <a:ext uri="{FF2B5EF4-FFF2-40B4-BE49-F238E27FC236}">
                    <a16:creationId xmlns:a16="http://schemas.microsoft.com/office/drawing/2014/main" id="{C43AE318-7315-615B-1E8A-B71671949A31}"/>
                  </a:ext>
                </a:extLst>
              </p:cNvPr>
              <p:cNvSpPr txBox="1">
                <a:spLocks noRot="1" noChangeAspect="1" noMove="1" noResize="1" noEditPoints="1" noAdjustHandles="1" noChangeArrowheads="1" noChangeShapeType="1" noTextEdit="1"/>
              </p:cNvSpPr>
              <p:nvPr/>
            </p:nvSpPr>
            <p:spPr>
              <a:xfrm>
                <a:off x="5630917" y="1597572"/>
                <a:ext cx="1953202" cy="646331"/>
              </a:xfrm>
              <a:prstGeom prst="rect">
                <a:avLst/>
              </a:prstGeom>
              <a:blipFill>
                <a:blip r:embed="rId3"/>
                <a:stretch>
                  <a:fillRect r="-23871" b="-9615"/>
                </a:stretch>
              </a:blipFill>
            </p:spPr>
            <p:txBody>
              <a:bodyPr/>
              <a:lstStyle/>
              <a:p>
                <a:r>
                  <a:rPr lang="en-US">
                    <a:noFill/>
                  </a:rPr>
                  <a:t> </a:t>
                </a:r>
              </a:p>
            </p:txBody>
          </p:sp>
        </mc:Fallback>
      </mc:AlternateContent>
    </p:spTree>
    <p:extLst>
      <p:ext uri="{BB962C8B-B14F-4D97-AF65-F5344CB8AC3E}">
        <p14:creationId xmlns:p14="http://schemas.microsoft.com/office/powerpoint/2010/main" val="318584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fade">
                                      <p:cBhvr>
                                        <p:cTn id="30" dur="500"/>
                                        <p:tgtEl>
                                          <p:spTgt spid="6">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animEffect transition="in" filter="fade">
                                      <p:cBhvr>
                                        <p:cTn id="35" dur="500"/>
                                        <p:tgtEl>
                                          <p:spTgt spid="6">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xEl>
                                              <p:pRg st="9" end="9"/>
                                            </p:txEl>
                                          </p:spTgt>
                                        </p:tgtEl>
                                        <p:attrNameLst>
                                          <p:attrName>style.visibility</p:attrName>
                                        </p:attrNameLst>
                                      </p:cBhvr>
                                      <p:to>
                                        <p:strVal val="visible"/>
                                      </p:to>
                                    </p:set>
                                    <p:animEffect transition="in" filter="fade">
                                      <p:cBhvr>
                                        <p:cTn id="40" dur="500"/>
                                        <p:tgtEl>
                                          <p:spTgt spid="6">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
                                            <p:txEl>
                                              <p:pRg st="14" end="14"/>
                                            </p:txEl>
                                          </p:spTgt>
                                        </p:tgtEl>
                                        <p:attrNameLst>
                                          <p:attrName>style.visibility</p:attrName>
                                        </p:attrNameLst>
                                      </p:cBhvr>
                                      <p:to>
                                        <p:strVal val="visible"/>
                                      </p:to>
                                    </p:set>
                                    <p:animEffect transition="in" filter="fade">
                                      <p:cBhvr>
                                        <p:cTn id="45" dur="500"/>
                                        <p:tgtEl>
                                          <p:spTgt spid="6">
                                            <p:txEl>
                                              <p:pRg st="14" end="1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
                                            <p:txEl>
                                              <p:pRg st="16" end="16"/>
                                            </p:txEl>
                                          </p:spTgt>
                                        </p:tgtEl>
                                        <p:attrNameLst>
                                          <p:attrName>style.visibility</p:attrName>
                                        </p:attrNameLst>
                                      </p:cBhvr>
                                      <p:to>
                                        <p:strVal val="visible"/>
                                      </p:to>
                                    </p:set>
                                    <p:animEffect transition="in" filter="fade">
                                      <p:cBhvr>
                                        <p:cTn id="50" dur="5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D904-90F3-4493-CDEA-017C9823A7A4}"/>
              </a:ext>
            </a:extLst>
          </p:cNvPr>
          <p:cNvSpPr>
            <a:spLocks noGrp="1"/>
          </p:cNvSpPr>
          <p:nvPr>
            <p:ph type="title"/>
          </p:nvPr>
        </p:nvSpPr>
        <p:spPr/>
        <p:txBody>
          <a:bodyPr/>
          <a:lstStyle/>
          <a:p>
            <a:r>
              <a:rPr lang="en-US" dirty="0"/>
              <a:t>Break Out!</a:t>
            </a:r>
          </a:p>
        </p:txBody>
      </p:sp>
      <p:sp>
        <p:nvSpPr>
          <p:cNvPr id="3" name="Content Placeholder 2">
            <a:extLst>
              <a:ext uri="{FF2B5EF4-FFF2-40B4-BE49-F238E27FC236}">
                <a16:creationId xmlns:a16="http://schemas.microsoft.com/office/drawing/2014/main" id="{5AF01E9B-518F-07BB-5F0A-F5194F0CCD1A}"/>
              </a:ext>
            </a:extLst>
          </p:cNvPr>
          <p:cNvSpPr>
            <a:spLocks noGrp="1"/>
          </p:cNvSpPr>
          <p:nvPr>
            <p:ph idx="1"/>
          </p:nvPr>
        </p:nvSpPr>
        <p:spPr/>
        <p:txBody>
          <a:bodyPr/>
          <a:lstStyle/>
          <a:p>
            <a:pPr marL="0" indent="0">
              <a:buNone/>
            </a:pPr>
            <a:r>
              <a:rPr lang="en-US" dirty="0"/>
              <a:t>Conduct a Permutation test to test if the mean creativity score of those offered intrinsic motivation is different from that of those offered extrinsic motivation.</a:t>
            </a:r>
          </a:p>
          <a:p>
            <a:pPr marL="0" indent="0">
              <a:buNone/>
            </a:pPr>
            <a:endParaRPr lang="en-US" dirty="0"/>
          </a:p>
          <a:p>
            <a:pPr marL="0" indent="0">
              <a:buNone/>
            </a:pPr>
            <a:r>
              <a:rPr lang="en-US" dirty="0"/>
              <a:t>Be thorough in your analysis and conclusion. </a:t>
            </a:r>
            <a:r>
              <a:rPr lang="en-US" dirty="0">
                <a:sym typeface="Wingdings" pitchFamily="2" charset="2"/>
              </a:rPr>
              <a:t> </a:t>
            </a:r>
            <a:endParaRPr lang="en-US" dirty="0"/>
          </a:p>
        </p:txBody>
      </p:sp>
    </p:spTree>
    <p:extLst>
      <p:ext uri="{BB962C8B-B14F-4D97-AF65-F5344CB8AC3E}">
        <p14:creationId xmlns:p14="http://schemas.microsoft.com/office/powerpoint/2010/main" val="1157541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FDCF9-FD9C-2F00-5C70-5CA3265D1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68DD2-BA61-627F-45DF-9D07DDADBA3B}"/>
              </a:ext>
            </a:extLst>
          </p:cNvPr>
          <p:cNvSpPr>
            <a:spLocks noGrp="1"/>
          </p:cNvSpPr>
          <p:nvPr>
            <p:ph type="title"/>
          </p:nvPr>
        </p:nvSpPr>
        <p:spPr/>
        <p:txBody>
          <a:bodyPr/>
          <a:lstStyle/>
          <a:p>
            <a:r>
              <a:rPr lang="en-US" dirty="0"/>
              <a:t>Creativity Study</a:t>
            </a:r>
          </a:p>
        </p:txBody>
      </p:sp>
      <p:sp>
        <p:nvSpPr>
          <p:cNvPr id="6" name="TextBox 5">
            <a:extLst>
              <a:ext uri="{FF2B5EF4-FFF2-40B4-BE49-F238E27FC236}">
                <a16:creationId xmlns:a16="http://schemas.microsoft.com/office/drawing/2014/main" id="{2DD04AEE-0905-0596-B80A-929AC527B3AF}"/>
              </a:ext>
            </a:extLst>
          </p:cNvPr>
          <p:cNvSpPr txBox="1"/>
          <p:nvPr/>
        </p:nvSpPr>
        <p:spPr>
          <a:xfrm>
            <a:off x="302046" y="1676400"/>
            <a:ext cx="11587908"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intrinsic / extrinsic treatment has no effect on creativity.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mean creativity score of the intrinsic group is equal to the mean score of the extrinsic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difference in the mean from the sample that received the intrinsic motivation was 4.14 points higher than the mean from the sample that received the extrinsic motivation.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FCCBE26-DEBB-15F7-7553-F2AE6444A542}"/>
                  </a:ext>
                </a:extLst>
              </p:cNvPr>
              <p:cNvSpPr txBox="1"/>
              <p:nvPr/>
            </p:nvSpPr>
            <p:spPr>
              <a:xfrm>
                <a:off x="7543800" y="1524000"/>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xmlns="">
          <p:sp>
            <p:nvSpPr>
              <p:cNvPr id="19" name="TextBox 18">
                <a:extLst>
                  <a:ext uri="{FF2B5EF4-FFF2-40B4-BE49-F238E27FC236}">
                    <a16:creationId xmlns:a16="http://schemas.microsoft.com/office/drawing/2014/main" id="{026CF454-9DBA-9740-BDF0-C9B56DA2976C}"/>
                  </a:ext>
                </a:extLst>
              </p:cNvPr>
              <p:cNvSpPr txBox="1">
                <a:spLocks noRot="1" noChangeAspect="1" noMove="1" noResize="1" noEditPoints="1" noAdjustHandles="1" noChangeArrowheads="1" noChangeShapeType="1" noTextEdit="1"/>
              </p:cNvSpPr>
              <p:nvPr/>
            </p:nvSpPr>
            <p:spPr>
              <a:xfrm>
                <a:off x="7543800" y="1524000"/>
                <a:ext cx="1953202" cy="646331"/>
              </a:xfrm>
              <a:prstGeom prst="rect">
                <a:avLst/>
              </a:prstGeom>
              <a:blipFill>
                <a:blip r:embed="rId2"/>
                <a:stretch>
                  <a:fillRect t="-3922"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43EA1784-23C0-4916-5ECB-C5EAE1342510}"/>
                  </a:ext>
                </a:extLst>
              </p:cNvPr>
              <p:cNvSpPr/>
              <p:nvPr/>
            </p:nvSpPr>
            <p:spPr>
              <a:xfrm>
                <a:off x="6812818" y="3429000"/>
                <a:ext cx="178234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=4.1442</a:t>
                </a:r>
              </a:p>
            </p:txBody>
          </p:sp>
        </mc:Choice>
        <mc:Fallback xmlns="">
          <p:sp>
            <p:nvSpPr>
              <p:cNvPr id="20" name="Rectangle 19">
                <a:extLst>
                  <a:ext uri="{FF2B5EF4-FFF2-40B4-BE49-F238E27FC236}">
                    <a16:creationId xmlns:a16="http://schemas.microsoft.com/office/drawing/2014/main" id="{77C0B7F4-8B56-5A46-BB6C-015D1D634C94}"/>
                  </a:ext>
                </a:extLst>
              </p:cNvPr>
              <p:cNvSpPr>
                <a:spLocks noRot="1" noChangeAspect="1" noMove="1" noResize="1" noEditPoints="1" noAdjustHandles="1" noChangeArrowheads="1" noChangeShapeType="1" noTextEdit="1"/>
              </p:cNvSpPr>
              <p:nvPr/>
            </p:nvSpPr>
            <p:spPr>
              <a:xfrm>
                <a:off x="6812818" y="3429000"/>
                <a:ext cx="1782347" cy="369332"/>
              </a:xfrm>
              <a:prstGeom prst="rect">
                <a:avLst/>
              </a:prstGeom>
              <a:blipFill>
                <a:blip r:embed="rId3"/>
                <a:stretch>
                  <a:fillRect t="-10000" r="-2128" b="-23333"/>
                </a:stretch>
              </a:blipFill>
            </p:spPr>
            <p:txBody>
              <a:bodyPr/>
              <a:lstStyle/>
              <a:p>
                <a:r>
                  <a:rPr lang="en-US">
                    <a:noFill/>
                  </a:rPr>
                  <a:t> </a:t>
                </a:r>
              </a:p>
            </p:txBody>
          </p:sp>
        </mc:Fallback>
      </mc:AlternateContent>
    </p:spTree>
    <p:extLst>
      <p:ext uri="{BB962C8B-B14F-4D97-AF65-F5344CB8AC3E}">
        <p14:creationId xmlns:p14="http://schemas.microsoft.com/office/powerpoint/2010/main" val="106513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500"/>
                                        <p:tgtEl>
                                          <p:spTgt spid="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60F5-74DC-B629-448F-90DB5C546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483F0-45BB-7BBB-AC17-368C5D2A2039}"/>
              </a:ext>
            </a:extLst>
          </p:cNvPr>
          <p:cNvSpPr>
            <a:spLocks noGrp="1"/>
          </p:cNvSpPr>
          <p:nvPr>
            <p:ph type="title"/>
          </p:nvPr>
        </p:nvSpPr>
        <p:spPr>
          <a:xfrm>
            <a:off x="0" y="228600"/>
            <a:ext cx="12192000" cy="1143000"/>
          </a:xfrm>
        </p:spPr>
        <p:txBody>
          <a:bodyPr>
            <a:normAutofit/>
          </a:bodyPr>
          <a:lstStyle/>
          <a:p>
            <a:r>
              <a:rPr lang="en-US" dirty="0"/>
              <a:t>Creativity Study: </a:t>
            </a:r>
            <a:r>
              <a:rPr lang="en-US" dirty="0" err="1"/>
              <a:t>Pvalue</a:t>
            </a:r>
            <a:endParaRPr lang="en-US" dirty="0"/>
          </a:p>
        </p:txBody>
      </p:sp>
      <p:pic>
        <p:nvPicPr>
          <p:cNvPr id="5" name="Content Placeholder 3">
            <a:extLst>
              <a:ext uri="{FF2B5EF4-FFF2-40B4-BE49-F238E27FC236}">
                <a16:creationId xmlns:a16="http://schemas.microsoft.com/office/drawing/2014/main" id="{E6DFCF28-4E17-4889-BB47-F1F5E724051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171" r="16775"/>
          <a:stretch/>
        </p:blipFill>
        <p:spPr>
          <a:xfrm>
            <a:off x="3661712" y="1831462"/>
            <a:ext cx="2527240" cy="4139295"/>
          </a:xfrm>
          <a:prstGeom prst="rect">
            <a:avLst/>
          </a:prstGeom>
        </p:spPr>
      </p:pic>
      <p:sp>
        <p:nvSpPr>
          <p:cNvPr id="6" name="Right Arrow 5">
            <a:extLst>
              <a:ext uri="{FF2B5EF4-FFF2-40B4-BE49-F238E27FC236}">
                <a16:creationId xmlns:a16="http://schemas.microsoft.com/office/drawing/2014/main" id="{003EE94D-BB6D-F64C-B0AD-18D9877EF339}"/>
              </a:ext>
            </a:extLst>
          </p:cNvPr>
          <p:cNvSpPr/>
          <p:nvPr/>
        </p:nvSpPr>
        <p:spPr>
          <a:xfrm>
            <a:off x="6625616" y="2745946"/>
            <a:ext cx="1087374" cy="3629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C0601EC5-D142-811F-2008-7F3AC7F6F1DF}"/>
              </a:ext>
            </a:extLst>
          </p:cNvPr>
          <p:cNvSpPr txBox="1"/>
          <p:nvPr/>
        </p:nvSpPr>
        <p:spPr>
          <a:xfrm>
            <a:off x="8369389" y="2013334"/>
            <a:ext cx="1689011"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1000 different groupings (relabelings)*</a:t>
            </a:r>
          </a:p>
        </p:txBody>
      </p:sp>
      <p:sp>
        <p:nvSpPr>
          <p:cNvPr id="8" name="TextBox 7">
            <a:extLst>
              <a:ext uri="{FF2B5EF4-FFF2-40B4-BE49-F238E27FC236}">
                <a16:creationId xmlns:a16="http://schemas.microsoft.com/office/drawing/2014/main" id="{10F63DE4-0610-61C8-1DA1-A5461C364118}"/>
              </a:ext>
            </a:extLst>
          </p:cNvPr>
          <p:cNvSpPr txBox="1"/>
          <p:nvPr/>
        </p:nvSpPr>
        <p:spPr>
          <a:xfrm>
            <a:off x="686669" y="2191709"/>
            <a:ext cx="2899713"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Number of random regroupings: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1.6 x 10</a:t>
            </a:r>
            <a:r>
              <a:rPr kumimoji="0" lang="en-US" sz="1800" b="0" i="0" u="none" strike="noStrike" kern="1200" cap="none" spc="0" normalizeH="0" baseline="30000" noProof="0" dirty="0">
                <a:ln>
                  <a:noFill/>
                </a:ln>
                <a:solidFill>
                  <a:srgbClr val="000000"/>
                </a:solidFill>
                <a:effectLst/>
                <a:uLnTx/>
                <a:uFillTx/>
                <a:latin typeface="Arial"/>
                <a:ea typeface="+mn-ea"/>
                <a:cs typeface="+mn-cs"/>
              </a:rPr>
              <a:t>13</a:t>
            </a:r>
          </a:p>
        </p:txBody>
      </p:sp>
      <p:sp>
        <p:nvSpPr>
          <p:cNvPr id="9" name="TextBox 8">
            <a:extLst>
              <a:ext uri="{FF2B5EF4-FFF2-40B4-BE49-F238E27FC236}">
                <a16:creationId xmlns:a16="http://schemas.microsoft.com/office/drawing/2014/main" id="{7FACAFE5-15C7-7017-FE00-6227660B2D92}"/>
              </a:ext>
            </a:extLst>
          </p:cNvPr>
          <p:cNvSpPr txBox="1"/>
          <p:nvPr/>
        </p:nvSpPr>
        <p:spPr>
          <a:xfrm>
            <a:off x="611340" y="3429000"/>
            <a:ext cx="2899713"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Half a year with a computer that can perform a million calculations per second!</a:t>
            </a:r>
            <a:endParaRPr kumimoji="0" lang="en-US" sz="1800" b="0" i="0" u="none" strike="noStrike" kern="1200" cap="none" spc="0" normalizeH="0" baseline="3000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1E936B-9F88-EBE7-FFC3-DCBF97D52531}"/>
                  </a:ext>
                </a:extLst>
              </p:cNvPr>
              <p:cNvSpPr txBox="1"/>
              <p:nvPr/>
            </p:nvSpPr>
            <p:spPr>
              <a:xfrm>
                <a:off x="6416186" y="1828669"/>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416186" y="1828669"/>
                <a:ext cx="1953202" cy="646331"/>
              </a:xfrm>
              <a:prstGeom prst="rect">
                <a:avLst/>
              </a:prstGeom>
              <a:blipFill>
                <a:blip r:embed="rId4"/>
                <a:stretch>
                  <a:fillRect t="-3922" b="-13725"/>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38CB6B85-24AA-E95E-B32A-3E2B6203444C}"/>
              </a:ext>
            </a:extLst>
          </p:cNvPr>
          <p:cNvGrpSpPr/>
          <p:nvPr/>
        </p:nvGrpSpPr>
        <p:grpSpPr>
          <a:xfrm>
            <a:off x="6895008" y="3293193"/>
            <a:ext cx="3428553" cy="2571415"/>
            <a:chOff x="4758102" y="1849580"/>
            <a:chExt cx="3428553" cy="2571415"/>
          </a:xfrm>
        </p:grpSpPr>
        <p:pic>
          <p:nvPicPr>
            <p:cNvPr id="16" name="Picture 15">
              <a:extLst>
                <a:ext uri="{FF2B5EF4-FFF2-40B4-BE49-F238E27FC236}">
                  <a16:creationId xmlns:a16="http://schemas.microsoft.com/office/drawing/2014/main" id="{73475B7E-BAC0-609B-3EDD-41BFB01E0D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8102" y="1849580"/>
              <a:ext cx="3428553" cy="2571415"/>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167DA6B-8E0A-22B7-1CDF-085E28266AFA}"/>
                    </a:ext>
                  </a:extLst>
                </p:cNvPr>
                <p:cNvSpPr txBox="1"/>
                <p:nvPr/>
              </p:nvSpPr>
              <p:spPr>
                <a:xfrm>
                  <a:off x="7021832" y="2488902"/>
                  <a:ext cx="82182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𝐼</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𝐸</m:t>
                            </m:r>
                          </m:sub>
                        </m:sSub>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5" name="TextBox 14">
                  <a:extLst>
                    <a:ext uri="{FF2B5EF4-FFF2-40B4-BE49-F238E27FC236}">
                      <a16:creationId xmlns:a16="http://schemas.microsoft.com/office/drawing/2014/main" id="{7F0634E9-FCF6-4801-8A6F-EB6E2AFBAF94}"/>
                    </a:ext>
                  </a:extLst>
                </p:cNvPr>
                <p:cNvSpPr txBox="1">
                  <a:spLocks noRot="1" noChangeAspect="1" noMove="1" noResize="1" noEditPoints="1" noAdjustHandles="1" noChangeArrowheads="1" noChangeShapeType="1" noTextEdit="1"/>
                </p:cNvSpPr>
                <p:nvPr/>
              </p:nvSpPr>
              <p:spPr>
                <a:xfrm>
                  <a:off x="7021832" y="2488902"/>
                  <a:ext cx="821827" cy="276999"/>
                </a:xfrm>
                <a:prstGeom prst="rect">
                  <a:avLst/>
                </a:prstGeom>
                <a:blipFill>
                  <a:blip r:embed="rId6"/>
                  <a:stretch>
                    <a:fillRect l="-4545" r="-1515" b="-17391"/>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412AD7C1-000D-AA3D-11D0-78A09F5858A5}"/>
              </a:ext>
            </a:extLst>
          </p:cNvPr>
          <p:cNvSpPr txBox="1"/>
          <p:nvPr/>
        </p:nvSpPr>
        <p:spPr>
          <a:xfrm>
            <a:off x="1655732" y="6178569"/>
            <a:ext cx="888053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*Everyone has the </a:t>
            </a:r>
            <a:r>
              <a:rPr kumimoji="0" lang="en-US" sz="1200" b="1" i="0" u="none" strike="noStrike" kern="1200" cap="none" spc="0" normalizeH="0" baseline="0" noProof="0" dirty="0">
                <a:ln>
                  <a:noFill/>
                </a:ln>
                <a:solidFill>
                  <a:srgbClr val="000000"/>
                </a:solidFill>
                <a:effectLst/>
                <a:uLnTx/>
                <a:uFillTx/>
                <a:latin typeface="Arial"/>
                <a:ea typeface="+mn-ea"/>
                <a:cs typeface="+mn-cs"/>
              </a:rPr>
              <a:t>same score</a:t>
            </a:r>
            <a:r>
              <a:rPr kumimoji="0" lang="en-US" sz="1200" b="0" i="0" u="none" strike="noStrike" kern="1200" cap="none" spc="0" normalizeH="0" baseline="0" noProof="0" dirty="0">
                <a:ln>
                  <a:noFill/>
                </a:ln>
                <a:solidFill>
                  <a:srgbClr val="000000"/>
                </a:solidFill>
                <a:effectLst/>
                <a:uLnTx/>
                <a:uFillTx/>
                <a:latin typeface="Arial"/>
                <a:ea typeface="+mn-ea"/>
                <a:cs typeface="+mn-cs"/>
              </a:rPr>
              <a:t> with each grouping. What group each person is artificially put in changes with each regrouping. If the treatments had the same effect, then each participant would have the same score regardless of grouping. </a:t>
            </a:r>
          </a:p>
        </p:txBody>
      </p:sp>
    </p:spTree>
    <p:extLst>
      <p:ext uri="{BB962C8B-B14F-4D97-AF65-F5344CB8AC3E}">
        <p14:creationId xmlns:p14="http://schemas.microsoft.com/office/powerpoint/2010/main" val="187832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5B612-50FE-6FE2-B461-9F5E31961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C7A1D-7898-489E-3C2F-D4F823E48007}"/>
              </a:ext>
            </a:extLst>
          </p:cNvPr>
          <p:cNvSpPr>
            <a:spLocks noGrp="1"/>
          </p:cNvSpPr>
          <p:nvPr>
            <p:ph type="title"/>
          </p:nvPr>
        </p:nvSpPr>
        <p:spPr/>
        <p:txBody>
          <a:bodyPr/>
          <a:lstStyle/>
          <a:p>
            <a:r>
              <a:rPr lang="en-US" dirty="0"/>
              <a:t>Creativity Study</a:t>
            </a:r>
          </a:p>
        </p:txBody>
      </p:sp>
      <p:sp>
        <p:nvSpPr>
          <p:cNvPr id="3" name="Content Placeholder 2">
            <a:extLst>
              <a:ext uri="{FF2B5EF4-FFF2-40B4-BE49-F238E27FC236}">
                <a16:creationId xmlns:a16="http://schemas.microsoft.com/office/drawing/2014/main" id="{4BCF12CA-E548-E9B7-0239-02D9E414C190}"/>
              </a:ext>
            </a:extLst>
          </p:cNvPr>
          <p:cNvSpPr>
            <a:spLocks noGrp="1"/>
          </p:cNvSpPr>
          <p:nvPr>
            <p:ph idx="1"/>
          </p:nvPr>
        </p:nvSpPr>
        <p:spPr/>
        <p:txBody>
          <a:bodyPr/>
          <a:lstStyle/>
          <a:p>
            <a:pPr algn="ctr"/>
            <a:r>
              <a:rPr lang="en-US" dirty="0"/>
              <a:t>(go to SAS code)</a:t>
            </a:r>
          </a:p>
        </p:txBody>
      </p:sp>
      <p:graphicFrame>
        <p:nvGraphicFramePr>
          <p:cNvPr id="5" name="Table 4">
            <a:extLst>
              <a:ext uri="{FF2B5EF4-FFF2-40B4-BE49-F238E27FC236}">
                <a16:creationId xmlns:a16="http://schemas.microsoft.com/office/drawing/2014/main" id="{576B05FA-AA3D-3690-017C-79B767318A77}"/>
              </a:ext>
            </a:extLst>
          </p:cNvPr>
          <p:cNvGraphicFramePr>
            <a:graphicFrameLocks noGrp="1"/>
          </p:cNvGraphicFramePr>
          <p:nvPr/>
        </p:nvGraphicFramePr>
        <p:xfrm>
          <a:off x="2201379" y="3494192"/>
          <a:ext cx="7611112" cy="1123118"/>
        </p:xfrm>
        <a:graphic>
          <a:graphicData uri="http://schemas.openxmlformats.org/drawingml/2006/table">
            <a:tbl>
              <a:tblPr/>
              <a:tblGrid>
                <a:gridCol w="951389">
                  <a:extLst>
                    <a:ext uri="{9D8B030D-6E8A-4147-A177-3AD203B41FA5}">
                      <a16:colId xmlns:a16="http://schemas.microsoft.com/office/drawing/2014/main" val="2882985531"/>
                    </a:ext>
                  </a:extLst>
                </a:gridCol>
                <a:gridCol w="951389">
                  <a:extLst>
                    <a:ext uri="{9D8B030D-6E8A-4147-A177-3AD203B41FA5}">
                      <a16:colId xmlns:a16="http://schemas.microsoft.com/office/drawing/2014/main" val="2908315571"/>
                    </a:ext>
                  </a:extLst>
                </a:gridCol>
                <a:gridCol w="951389">
                  <a:extLst>
                    <a:ext uri="{9D8B030D-6E8A-4147-A177-3AD203B41FA5}">
                      <a16:colId xmlns:a16="http://schemas.microsoft.com/office/drawing/2014/main" val="1278110357"/>
                    </a:ext>
                  </a:extLst>
                </a:gridCol>
                <a:gridCol w="951389">
                  <a:extLst>
                    <a:ext uri="{9D8B030D-6E8A-4147-A177-3AD203B41FA5}">
                      <a16:colId xmlns:a16="http://schemas.microsoft.com/office/drawing/2014/main" val="3093202133"/>
                    </a:ext>
                  </a:extLst>
                </a:gridCol>
                <a:gridCol w="951389">
                  <a:extLst>
                    <a:ext uri="{9D8B030D-6E8A-4147-A177-3AD203B41FA5}">
                      <a16:colId xmlns:a16="http://schemas.microsoft.com/office/drawing/2014/main" val="3407833218"/>
                    </a:ext>
                  </a:extLst>
                </a:gridCol>
                <a:gridCol w="951389">
                  <a:extLst>
                    <a:ext uri="{9D8B030D-6E8A-4147-A177-3AD203B41FA5}">
                      <a16:colId xmlns:a16="http://schemas.microsoft.com/office/drawing/2014/main" val="1016388550"/>
                    </a:ext>
                  </a:extLst>
                </a:gridCol>
                <a:gridCol w="951389">
                  <a:extLst>
                    <a:ext uri="{9D8B030D-6E8A-4147-A177-3AD203B41FA5}">
                      <a16:colId xmlns:a16="http://schemas.microsoft.com/office/drawing/2014/main" val="3104962337"/>
                    </a:ext>
                  </a:extLst>
                </a:gridCol>
                <a:gridCol w="951389">
                  <a:extLst>
                    <a:ext uri="{9D8B030D-6E8A-4147-A177-3AD203B41FA5}">
                      <a16:colId xmlns:a16="http://schemas.microsoft.com/office/drawing/2014/main" val="3182066143"/>
                    </a:ext>
                  </a:extLst>
                </a:gridCol>
              </a:tblGrid>
              <a:tr h="260923">
                <a:tc>
                  <a:txBody>
                    <a:bodyPr/>
                    <a:lstStyle/>
                    <a:p>
                      <a:pPr algn="l" fontAlgn="b"/>
                      <a:r>
                        <a:rPr lang="en-US" sz="1100" b="1" i="0" dirty="0">
                          <a:solidFill>
                            <a:srgbClr val="112277"/>
                          </a:solidFill>
                          <a:effectLst/>
                          <a:latin typeface="Arial" panose="020B0604020202020204" pitchFamily="34" charset="0"/>
                        </a:rPr>
                        <a:t>treatment</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b"/>
                      <a:r>
                        <a:rPr lang="en-US" sz="1100" b="1" i="0" dirty="0">
                          <a:solidFill>
                            <a:srgbClr val="112277"/>
                          </a:solidFill>
                          <a:effectLst/>
                          <a:latin typeface="Arial" panose="020B0604020202020204" pitchFamily="34" charset="0"/>
                        </a:rPr>
                        <a:t>Method</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b"/>
                      <a:r>
                        <a:rPr lang="en-US" sz="1100" b="1" i="0" dirty="0">
                          <a:solidFill>
                            <a:srgbClr val="112277"/>
                          </a:solidFill>
                          <a:effectLst/>
                          <a:latin typeface="Arial" panose="020B0604020202020204" pitchFamily="34" charset="0"/>
                        </a:rPr>
                        <a:t>Mean</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gridSpan="2">
                  <a:txBody>
                    <a:bodyPr/>
                    <a:lstStyle/>
                    <a:p>
                      <a:pPr algn="ctr" fontAlgn="b"/>
                      <a:r>
                        <a:rPr lang="en-US" sz="1100" b="1" i="0" dirty="0">
                          <a:solidFill>
                            <a:srgbClr val="112277"/>
                          </a:solidFill>
                          <a:effectLst/>
                          <a:latin typeface="Arial" panose="020B0604020202020204" pitchFamily="34" charset="0"/>
                        </a:rPr>
                        <a:t>95% CL Mean</a:t>
                      </a:r>
                    </a:p>
                  </a:txBody>
                  <a:tcPr marL="64970" marR="64970" marT="32485" marB="32485"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hMerge="1">
                  <a:txBody>
                    <a:bodyPr/>
                    <a:lstStyle/>
                    <a:p>
                      <a:endParaRPr lang="en-US"/>
                    </a:p>
                  </a:txBody>
                  <a:tcPr/>
                </a:tc>
                <a:tc>
                  <a:txBody>
                    <a:bodyPr/>
                    <a:lstStyle/>
                    <a:p>
                      <a:pPr algn="r" fontAlgn="b"/>
                      <a:r>
                        <a:rPr lang="en-US" sz="1100" b="1" i="0" dirty="0">
                          <a:solidFill>
                            <a:srgbClr val="112277"/>
                          </a:solidFill>
                          <a:effectLst/>
                          <a:latin typeface="Arial" panose="020B0604020202020204" pitchFamily="34" charset="0"/>
                        </a:rPr>
                        <a:t>Std Dev</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gridSpan="2">
                  <a:txBody>
                    <a:bodyPr/>
                    <a:lstStyle/>
                    <a:p>
                      <a:pPr algn="ctr" fontAlgn="b"/>
                      <a:r>
                        <a:rPr lang="en-US" sz="1100" b="1" i="0" dirty="0">
                          <a:solidFill>
                            <a:srgbClr val="112277"/>
                          </a:solidFill>
                          <a:effectLst/>
                          <a:latin typeface="Arial" panose="020B0604020202020204" pitchFamily="34" charset="0"/>
                        </a:rPr>
                        <a:t>95% CL Std Dev</a:t>
                      </a:r>
                    </a:p>
                  </a:txBody>
                  <a:tcPr marL="64970" marR="64970" marT="32485" marB="32485"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hMerge="1">
                  <a:txBody>
                    <a:bodyPr/>
                    <a:lstStyle/>
                    <a:p>
                      <a:endParaRPr lang="en-US"/>
                    </a:p>
                  </a:txBody>
                  <a:tcPr/>
                </a:tc>
                <a:extLst>
                  <a:ext uri="{0D108BD9-81ED-4DB2-BD59-A6C34878D82A}">
                    <a16:rowId xmlns:a16="http://schemas.microsoft.com/office/drawing/2014/main" val="892175911"/>
                  </a:ext>
                </a:extLst>
              </a:tr>
              <a:tr h="195207">
                <a:tc>
                  <a:txBody>
                    <a:bodyPr/>
                    <a:lstStyle/>
                    <a:p>
                      <a:pPr algn="l" fontAlgn="t"/>
                      <a:r>
                        <a:rPr lang="en-US" sz="1100" b="1" i="0" dirty="0">
                          <a:solidFill>
                            <a:srgbClr val="112277"/>
                          </a:solidFill>
                          <a:effectLst/>
                          <a:latin typeface="Arial" panose="020B0604020202020204" pitchFamily="34" charset="0"/>
                        </a:rPr>
                        <a:t>0</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 </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19.8833</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18.0087</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21.7580</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4.4395</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3.4504</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6.2276</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388663137"/>
                  </a:ext>
                </a:extLst>
              </a:tr>
              <a:tr h="195207">
                <a:tc>
                  <a:txBody>
                    <a:bodyPr/>
                    <a:lstStyle/>
                    <a:p>
                      <a:pPr algn="l" fontAlgn="t"/>
                      <a:r>
                        <a:rPr lang="en-US" sz="1100" b="1" i="0" dirty="0">
                          <a:solidFill>
                            <a:srgbClr val="112277"/>
                          </a:solidFill>
                          <a:effectLst/>
                          <a:latin typeface="Arial" panose="020B0604020202020204" pitchFamily="34" charset="0"/>
                        </a:rPr>
                        <a:t>1</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 </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15.7391</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13.4677</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18.0105</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5.2526</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4.0623</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7.4343</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796456744"/>
                  </a:ext>
                </a:extLst>
              </a:tr>
              <a:tr h="195207">
                <a:tc>
                  <a:txBody>
                    <a:bodyPr/>
                    <a:lstStyle/>
                    <a:p>
                      <a:pPr algn="l" fontAlgn="t"/>
                      <a:r>
                        <a:rPr lang="en-US" sz="1100" b="1" i="0" dirty="0">
                          <a:solidFill>
                            <a:srgbClr val="112277"/>
                          </a:solidFill>
                          <a:effectLst/>
                          <a:latin typeface="Arial" panose="020B0604020202020204" pitchFamily="34" charset="0"/>
                        </a:rPr>
                        <a:t>Diff (1-2)</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Pooled</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4.1442</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1.2914</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6.9970</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4.8541</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4.0261</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6.1138</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3846186134"/>
                  </a:ext>
                </a:extLst>
              </a:tr>
              <a:tr h="260923">
                <a:tc>
                  <a:txBody>
                    <a:bodyPr/>
                    <a:lstStyle/>
                    <a:p>
                      <a:pPr algn="l" fontAlgn="t"/>
                      <a:r>
                        <a:rPr lang="en-US" sz="1100" b="1" i="0" dirty="0">
                          <a:solidFill>
                            <a:srgbClr val="112277"/>
                          </a:solidFill>
                          <a:effectLst/>
                          <a:latin typeface="Arial" panose="020B0604020202020204" pitchFamily="34" charset="0"/>
                        </a:rPr>
                        <a:t>Diff (1-2)</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Satterthwaite</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4.1442</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1.2776</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7.0108</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 </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 </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 </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657544687"/>
                  </a:ext>
                </a:extLst>
              </a:tr>
            </a:tbl>
          </a:graphicData>
        </a:graphic>
      </p:graphicFrame>
      <p:sp>
        <p:nvSpPr>
          <p:cNvPr id="6" name="Rectangle 1">
            <a:extLst>
              <a:ext uri="{FF2B5EF4-FFF2-40B4-BE49-F238E27FC236}">
                <a16:creationId xmlns:a16="http://schemas.microsoft.com/office/drawing/2014/main" id="{BDA1FECA-FFC9-8C15-6E2E-01B1CE68FA39}"/>
              </a:ext>
            </a:extLst>
          </p:cNvPr>
          <p:cNvSpPr>
            <a:spLocks noChangeArrowheads="1"/>
          </p:cNvSpPr>
          <p:nvPr/>
        </p:nvSpPr>
        <p:spPr bwMode="auto">
          <a:xfrm>
            <a:off x="1702130" y="2278181"/>
            <a:ext cx="8609610" cy="760414"/>
          </a:xfrm>
          <a:prstGeom prst="rect">
            <a:avLst/>
          </a:prstGeom>
          <a:solidFill>
            <a:srgbClr val="FAFB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5870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112277"/>
                </a:solidFill>
                <a:effectLst/>
                <a:uLnTx/>
                <a:uFillTx/>
                <a:latin typeface="Arial" panose="020B0604020202020204" pitchFamily="34" charset="0"/>
                <a:ea typeface="+mn-ea"/>
                <a:cs typeface="Arial" panose="020B0604020202020204" pitchFamily="34" charset="0"/>
              </a:rPr>
              <a:t>The TTEST Procedure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112277"/>
                </a:solidFill>
                <a:effectLst/>
                <a:uLnTx/>
                <a:uFillTx/>
                <a:latin typeface="Arial" panose="020B0604020202020204" pitchFamily="34" charset="0"/>
                <a:ea typeface="+mn-ea"/>
                <a:cs typeface="Arial" panose="020B0604020202020204" pitchFamily="34" charset="0"/>
              </a:rPr>
              <a:t>Variable: score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7" name="Rectangle 6">
            <a:extLst>
              <a:ext uri="{FF2B5EF4-FFF2-40B4-BE49-F238E27FC236}">
                <a16:creationId xmlns:a16="http://schemas.microsoft.com/office/drawing/2014/main" id="{1681B09F-C2F3-09DE-DD16-ED8629117226}"/>
              </a:ext>
            </a:extLst>
          </p:cNvPr>
          <p:cNvSpPr/>
          <p:nvPr/>
        </p:nvSpPr>
        <p:spPr>
          <a:xfrm>
            <a:off x="4124697" y="4156364"/>
            <a:ext cx="938151" cy="2018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03409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ADD6-9471-691B-C128-06B518284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A912F-CE90-8FB9-2A96-D838F28ADACB}"/>
              </a:ext>
            </a:extLst>
          </p:cNvPr>
          <p:cNvSpPr>
            <a:spLocks noGrp="1"/>
          </p:cNvSpPr>
          <p:nvPr>
            <p:ph type="title"/>
          </p:nvPr>
        </p:nvSpPr>
        <p:spPr/>
        <p:txBody>
          <a:bodyPr/>
          <a:lstStyle/>
          <a:p>
            <a:r>
              <a:rPr lang="en-US" dirty="0"/>
              <a:t>Creativity Study</a:t>
            </a:r>
          </a:p>
        </p:txBody>
      </p:sp>
      <p:pic>
        <p:nvPicPr>
          <p:cNvPr id="7" name="Content Placeholder 3">
            <a:extLst>
              <a:ext uri="{FF2B5EF4-FFF2-40B4-BE49-F238E27FC236}">
                <a16:creationId xmlns:a16="http://schemas.microsoft.com/office/drawing/2014/main" id="{DF116A8C-8FC8-FE94-1908-F04E2976EE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171" r="16775"/>
          <a:stretch/>
        </p:blipFill>
        <p:spPr>
          <a:xfrm>
            <a:off x="3429000" y="1870606"/>
            <a:ext cx="2123495" cy="347801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B59EFF-2400-22DB-ED93-49B6FDB946D8}"/>
                  </a:ext>
                </a:extLst>
              </p:cNvPr>
              <p:cNvSpPr txBox="1"/>
              <p:nvPr/>
            </p:nvSpPr>
            <p:spPr>
              <a:xfrm>
                <a:off x="5793596" y="1794517"/>
                <a:ext cx="1953202"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793596" y="1794517"/>
                <a:ext cx="1953202" cy="2031325"/>
              </a:xfrm>
              <a:prstGeom prst="rect">
                <a:avLst/>
              </a:prstGeom>
              <a:blipFill>
                <a:blip r:embed="rId3"/>
                <a:stretch>
                  <a:fillRect t="-1242"/>
                </a:stretch>
              </a:blipFill>
            </p:spPr>
            <p:txBody>
              <a:bodyPr/>
              <a:lstStyle/>
              <a:p>
                <a:r>
                  <a:rPr lang="en-US">
                    <a:noFill/>
                  </a:rPr>
                  <a:t> </a:t>
                </a:r>
              </a:p>
            </p:txBody>
          </p:sp>
        </mc:Fallback>
      </mc:AlternateContent>
      <p:sp>
        <p:nvSpPr>
          <p:cNvPr id="9" name="Right Arrow 8">
            <a:extLst>
              <a:ext uri="{FF2B5EF4-FFF2-40B4-BE49-F238E27FC236}">
                <a16:creationId xmlns:a16="http://schemas.microsoft.com/office/drawing/2014/main" id="{41DF84E0-1F43-184A-F145-856C8E300A62}"/>
              </a:ext>
            </a:extLst>
          </p:cNvPr>
          <p:cNvSpPr/>
          <p:nvPr/>
        </p:nvSpPr>
        <p:spPr>
          <a:xfrm>
            <a:off x="6183655" y="3367679"/>
            <a:ext cx="1087374" cy="3629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FD57F033-D6E4-902D-CAD6-233072671FF8}"/>
              </a:ext>
            </a:extLst>
          </p:cNvPr>
          <p:cNvSpPr txBox="1"/>
          <p:nvPr/>
        </p:nvSpPr>
        <p:spPr>
          <a:xfrm>
            <a:off x="5857441" y="2433874"/>
            <a:ext cx="169742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1000 different groupings (relabelings)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Box 12">
            <a:extLst>
              <a:ext uri="{FF2B5EF4-FFF2-40B4-BE49-F238E27FC236}">
                <a16:creationId xmlns:a16="http://schemas.microsoft.com/office/drawing/2014/main" id="{2D6D80EB-F1C8-9962-3C5A-9EBE85AB05A0}"/>
              </a:ext>
            </a:extLst>
          </p:cNvPr>
          <p:cNvSpPr txBox="1"/>
          <p:nvPr/>
        </p:nvSpPr>
        <p:spPr>
          <a:xfrm>
            <a:off x="152401" y="5486400"/>
            <a:ext cx="11658599"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Arial"/>
                <a:ea typeface="+mn-ea"/>
                <a:cs typeface="+mn-cs"/>
              </a:rPr>
              <a:t>Conclusion: </a:t>
            </a:r>
            <a:r>
              <a:rPr kumimoji="0" lang="en-US" sz="1500" b="0" i="0" u="none" strike="noStrike" kern="1200" cap="none" spc="0" normalizeH="0" baseline="0" noProof="0" dirty="0">
                <a:ln>
                  <a:noFill/>
                </a:ln>
                <a:solidFill>
                  <a:srgbClr val="000000"/>
                </a:solidFill>
                <a:effectLst/>
                <a:uLnTx/>
                <a:uFillTx/>
                <a:latin typeface="Arial"/>
                <a:ea typeface="+mn-ea"/>
                <a:cs typeface="+mn-cs"/>
              </a:rPr>
              <a:t>There is strong evidence to suggest that the mean score of those who receive intrinsic motivation is not equal to (greater than) those who receive the extrinsic motivation (p-value = .008).  Since this was a randomized experiment, we can conclude that the intrinsic motivation caused this increase.  In addition, since these were volunteers, this inference can only be assumed to apply to these 47 subjects, although the findings are very intriguing.   </a:t>
            </a:r>
          </a:p>
        </p:txBody>
      </p:sp>
      <p:grpSp>
        <p:nvGrpSpPr>
          <p:cNvPr id="4" name="Group 3">
            <a:extLst>
              <a:ext uri="{FF2B5EF4-FFF2-40B4-BE49-F238E27FC236}">
                <a16:creationId xmlns:a16="http://schemas.microsoft.com/office/drawing/2014/main" id="{62616190-145F-2388-381C-E9A4CCD394BC}"/>
              </a:ext>
            </a:extLst>
          </p:cNvPr>
          <p:cNvGrpSpPr/>
          <p:nvPr/>
        </p:nvGrpSpPr>
        <p:grpSpPr>
          <a:xfrm>
            <a:off x="8020741" y="1771985"/>
            <a:ext cx="3428553" cy="2571415"/>
            <a:chOff x="4758102" y="1849580"/>
            <a:chExt cx="3428553" cy="2571415"/>
          </a:xfrm>
        </p:grpSpPr>
        <p:grpSp>
          <p:nvGrpSpPr>
            <p:cNvPr id="3" name="Group 2">
              <a:extLst>
                <a:ext uri="{FF2B5EF4-FFF2-40B4-BE49-F238E27FC236}">
                  <a16:creationId xmlns:a16="http://schemas.microsoft.com/office/drawing/2014/main" id="{AFFC9EEE-D0A6-71F6-3567-810D26910636}"/>
                </a:ext>
              </a:extLst>
            </p:cNvPr>
            <p:cNvGrpSpPr/>
            <p:nvPr/>
          </p:nvGrpSpPr>
          <p:grpSpPr>
            <a:xfrm>
              <a:off x="4758102" y="1849580"/>
              <a:ext cx="3428553" cy="2571415"/>
              <a:chOff x="4821947" y="1810192"/>
              <a:chExt cx="3428553" cy="2571415"/>
            </a:xfrm>
          </p:grpSpPr>
          <p:pic>
            <p:nvPicPr>
              <p:cNvPr id="5" name="Picture 4">
                <a:extLst>
                  <a:ext uri="{FF2B5EF4-FFF2-40B4-BE49-F238E27FC236}">
                    <a16:creationId xmlns:a16="http://schemas.microsoft.com/office/drawing/2014/main" id="{60AD0CFD-5523-7163-8A92-EA7D8E028F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1947" y="1810192"/>
                <a:ext cx="3428553" cy="2571415"/>
              </a:xfrm>
              <a:prstGeom prst="rect">
                <a:avLst/>
              </a:prstGeom>
            </p:spPr>
          </p:pic>
          <p:cxnSp>
            <p:nvCxnSpPr>
              <p:cNvPr id="11" name="Straight Connector 10">
                <a:extLst>
                  <a:ext uri="{FF2B5EF4-FFF2-40B4-BE49-F238E27FC236}">
                    <a16:creationId xmlns:a16="http://schemas.microsoft.com/office/drawing/2014/main" id="{DE3642A5-9809-1B94-A037-62DBBA01D628}"/>
                  </a:ext>
                </a:extLst>
              </p:cNvPr>
              <p:cNvCxnSpPr/>
              <p:nvPr/>
            </p:nvCxnSpPr>
            <p:spPr>
              <a:xfrm>
                <a:off x="7989737" y="2191087"/>
                <a:ext cx="25632" cy="1962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333371E-FD9A-E7BC-4EB3-C75AD4C8531E}"/>
                  </a:ext>
                </a:extLst>
              </p:cNvPr>
              <p:cNvCxnSpPr/>
              <p:nvPr/>
            </p:nvCxnSpPr>
            <p:spPr>
              <a:xfrm>
                <a:off x="5319727" y="2191087"/>
                <a:ext cx="25632" cy="1962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9162F54-567E-4E58-D88F-DCD96EA732C2}"/>
                  </a:ext>
                </a:extLst>
              </p:cNvPr>
              <p:cNvSpPr txBox="1"/>
              <p:nvPr/>
            </p:nvSpPr>
            <p:spPr>
              <a:xfrm>
                <a:off x="5411968" y="2086903"/>
                <a:ext cx="75873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Arial"/>
                    <a:ea typeface="+mn-ea"/>
                    <a:cs typeface="+mn-cs"/>
                  </a:rPr>
                  <a:t>-4.14</a:t>
                </a:r>
              </a:p>
            </p:txBody>
          </p:sp>
          <p:sp>
            <p:nvSpPr>
              <p:cNvPr id="16" name="TextBox 15">
                <a:extLst>
                  <a:ext uri="{FF2B5EF4-FFF2-40B4-BE49-F238E27FC236}">
                    <a16:creationId xmlns:a16="http://schemas.microsoft.com/office/drawing/2014/main" id="{03F58B38-9DA2-4A67-1566-1336D896D259}"/>
                  </a:ext>
                </a:extLst>
              </p:cNvPr>
              <p:cNvSpPr txBox="1"/>
              <p:nvPr/>
            </p:nvSpPr>
            <p:spPr>
              <a:xfrm>
                <a:off x="7424855" y="2017402"/>
                <a:ext cx="75873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Arial"/>
                    <a:ea typeface="+mn-ea"/>
                    <a:cs typeface="+mn-cs"/>
                  </a:rPr>
                  <a:t>4.14</a:t>
                </a:r>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CB5203E-A64E-B14D-9FA5-99F800914E53}"/>
                    </a:ext>
                  </a:extLst>
                </p:cNvPr>
                <p:cNvSpPr txBox="1"/>
                <p:nvPr/>
              </p:nvSpPr>
              <p:spPr>
                <a:xfrm>
                  <a:off x="7021832" y="2488902"/>
                  <a:ext cx="82182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𝐼</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𝐸</m:t>
                            </m:r>
                          </m:sub>
                        </m:sSub>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021832" y="2488902"/>
                  <a:ext cx="821827" cy="276999"/>
                </a:xfrm>
                <a:prstGeom prst="rect">
                  <a:avLst/>
                </a:prstGeom>
                <a:blipFill>
                  <a:blip r:embed="rId5"/>
                  <a:stretch>
                    <a:fillRect l="-4545" b="-22727"/>
                  </a:stretch>
                </a:blipFill>
              </p:spPr>
              <p:txBody>
                <a:bodyPr/>
                <a:lstStyle/>
                <a:p>
                  <a:r>
                    <a:rPr lang="en-US">
                      <a:noFill/>
                    </a:rPr>
                    <a:t> </a:t>
                  </a:r>
                </a:p>
              </p:txBody>
            </p:sp>
          </mc:Fallback>
        </mc:AlternateContent>
      </p:grpSp>
      <p:graphicFrame>
        <p:nvGraphicFramePr>
          <p:cNvPr id="17" name="Table 16">
            <a:extLst>
              <a:ext uri="{FF2B5EF4-FFF2-40B4-BE49-F238E27FC236}">
                <a16:creationId xmlns:a16="http://schemas.microsoft.com/office/drawing/2014/main" id="{D319BA51-C1DC-2176-3D45-BC92D05DC677}"/>
              </a:ext>
            </a:extLst>
          </p:cNvPr>
          <p:cNvGraphicFramePr>
            <a:graphicFrameLocks noGrp="1"/>
          </p:cNvGraphicFramePr>
          <p:nvPr/>
        </p:nvGraphicFramePr>
        <p:xfrm>
          <a:off x="5705936" y="4427644"/>
          <a:ext cx="6094959" cy="919606"/>
        </p:xfrm>
        <a:graphic>
          <a:graphicData uri="http://schemas.openxmlformats.org/drawingml/2006/table">
            <a:tbl>
              <a:tblPr/>
              <a:tblGrid>
                <a:gridCol w="468843">
                  <a:extLst>
                    <a:ext uri="{9D8B030D-6E8A-4147-A177-3AD203B41FA5}">
                      <a16:colId xmlns:a16="http://schemas.microsoft.com/office/drawing/2014/main" val="4191927114"/>
                    </a:ext>
                  </a:extLst>
                </a:gridCol>
                <a:gridCol w="468843">
                  <a:extLst>
                    <a:ext uri="{9D8B030D-6E8A-4147-A177-3AD203B41FA5}">
                      <a16:colId xmlns:a16="http://schemas.microsoft.com/office/drawing/2014/main" val="1553062055"/>
                    </a:ext>
                  </a:extLst>
                </a:gridCol>
                <a:gridCol w="468843">
                  <a:extLst>
                    <a:ext uri="{9D8B030D-6E8A-4147-A177-3AD203B41FA5}">
                      <a16:colId xmlns:a16="http://schemas.microsoft.com/office/drawing/2014/main" val="2029518455"/>
                    </a:ext>
                  </a:extLst>
                </a:gridCol>
                <a:gridCol w="468843">
                  <a:extLst>
                    <a:ext uri="{9D8B030D-6E8A-4147-A177-3AD203B41FA5}">
                      <a16:colId xmlns:a16="http://schemas.microsoft.com/office/drawing/2014/main" val="2610139692"/>
                    </a:ext>
                  </a:extLst>
                </a:gridCol>
                <a:gridCol w="468843">
                  <a:extLst>
                    <a:ext uri="{9D8B030D-6E8A-4147-A177-3AD203B41FA5}">
                      <a16:colId xmlns:a16="http://schemas.microsoft.com/office/drawing/2014/main" val="2317417545"/>
                    </a:ext>
                  </a:extLst>
                </a:gridCol>
                <a:gridCol w="468843">
                  <a:extLst>
                    <a:ext uri="{9D8B030D-6E8A-4147-A177-3AD203B41FA5}">
                      <a16:colId xmlns:a16="http://schemas.microsoft.com/office/drawing/2014/main" val="2506100888"/>
                    </a:ext>
                  </a:extLst>
                </a:gridCol>
                <a:gridCol w="468843">
                  <a:extLst>
                    <a:ext uri="{9D8B030D-6E8A-4147-A177-3AD203B41FA5}">
                      <a16:colId xmlns:a16="http://schemas.microsoft.com/office/drawing/2014/main" val="2487611535"/>
                    </a:ext>
                  </a:extLst>
                </a:gridCol>
                <a:gridCol w="468843">
                  <a:extLst>
                    <a:ext uri="{9D8B030D-6E8A-4147-A177-3AD203B41FA5}">
                      <a16:colId xmlns:a16="http://schemas.microsoft.com/office/drawing/2014/main" val="2827583647"/>
                    </a:ext>
                  </a:extLst>
                </a:gridCol>
                <a:gridCol w="468843">
                  <a:extLst>
                    <a:ext uri="{9D8B030D-6E8A-4147-A177-3AD203B41FA5}">
                      <a16:colId xmlns:a16="http://schemas.microsoft.com/office/drawing/2014/main" val="3294642459"/>
                    </a:ext>
                  </a:extLst>
                </a:gridCol>
                <a:gridCol w="468843">
                  <a:extLst>
                    <a:ext uri="{9D8B030D-6E8A-4147-A177-3AD203B41FA5}">
                      <a16:colId xmlns:a16="http://schemas.microsoft.com/office/drawing/2014/main" val="994415506"/>
                    </a:ext>
                  </a:extLst>
                </a:gridCol>
                <a:gridCol w="468843">
                  <a:extLst>
                    <a:ext uri="{9D8B030D-6E8A-4147-A177-3AD203B41FA5}">
                      <a16:colId xmlns:a16="http://schemas.microsoft.com/office/drawing/2014/main" val="2274080700"/>
                    </a:ext>
                  </a:extLst>
                </a:gridCol>
                <a:gridCol w="468843">
                  <a:extLst>
                    <a:ext uri="{9D8B030D-6E8A-4147-A177-3AD203B41FA5}">
                      <a16:colId xmlns:a16="http://schemas.microsoft.com/office/drawing/2014/main" val="3211500598"/>
                    </a:ext>
                  </a:extLst>
                </a:gridCol>
                <a:gridCol w="468843">
                  <a:extLst>
                    <a:ext uri="{9D8B030D-6E8A-4147-A177-3AD203B41FA5}">
                      <a16:colId xmlns:a16="http://schemas.microsoft.com/office/drawing/2014/main" val="3893925110"/>
                    </a:ext>
                  </a:extLst>
                </a:gridCol>
              </a:tblGrid>
              <a:tr h="201638">
                <a:tc>
                  <a:txBody>
                    <a:bodyPr/>
                    <a:lstStyle/>
                    <a:p>
                      <a:pPr algn="r" fontAlgn="t"/>
                      <a:r>
                        <a:rPr lang="en-US" sz="400" b="1" i="0" dirty="0">
                          <a:solidFill>
                            <a:srgbClr val="112277"/>
                          </a:solidFill>
                          <a:effectLst/>
                          <a:latin typeface="Arial" panose="020B0604020202020204" pitchFamily="34" charset="0"/>
                        </a:rPr>
                        <a:t>Obs</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Variable</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Class</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Method</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Variances</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Mean</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LowerCLMean</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UpperCLMean</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LowerCLStdDev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UpperCLStdDev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UMPULowerCLStdDev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UMPUUpperCLStdDev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extLst>
                  <a:ext uri="{0D108BD9-81ED-4DB2-BD59-A6C34878D82A}">
                    <a16:rowId xmlns:a16="http://schemas.microsoft.com/office/drawing/2014/main" val="3887241976"/>
                  </a:ext>
                </a:extLst>
              </a:tr>
              <a:tr h="89746">
                <a:tc>
                  <a:txBody>
                    <a:bodyPr/>
                    <a:lstStyle/>
                    <a:p>
                      <a:pPr algn="r" fontAlgn="t"/>
                      <a:r>
                        <a:rPr lang="en-US" sz="400" b="1" i="0" dirty="0">
                          <a:solidFill>
                            <a:srgbClr val="112277"/>
                          </a:solidFill>
                          <a:effectLst/>
                          <a:latin typeface="Arial" panose="020B0604020202020204" pitchFamily="34" charset="0"/>
                        </a:rPr>
                        <a:t>1</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COL139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4.4678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1.6594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7.2762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4.7786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3.9635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6.0187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3.9360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5.9708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33396356"/>
                  </a:ext>
                </a:extLst>
              </a:tr>
              <a:tr h="89746">
                <a:tc>
                  <a:txBody>
                    <a:bodyPr/>
                    <a:lstStyle/>
                    <a:p>
                      <a:pPr algn="r" fontAlgn="t"/>
                      <a:r>
                        <a:rPr lang="en-US" sz="400" b="1" i="0" dirty="0">
                          <a:solidFill>
                            <a:srgbClr val="112277"/>
                          </a:solidFill>
                          <a:effectLst/>
                          <a:latin typeface="Arial" panose="020B0604020202020204" pitchFamily="34" charset="0"/>
                        </a:rPr>
                        <a:t>2</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COL170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-4.3192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-7.1485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-1.4899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4.8141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3.9930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6.0634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3.9653</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6.0152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3304942309"/>
                  </a:ext>
                </a:extLst>
              </a:tr>
              <a:tr h="89746">
                <a:tc>
                  <a:txBody>
                    <a:bodyPr/>
                    <a:lstStyle/>
                    <a:p>
                      <a:pPr algn="r" fontAlgn="t"/>
                      <a:r>
                        <a:rPr lang="en-US" sz="400" b="1" i="0" dirty="0">
                          <a:solidFill>
                            <a:srgbClr val="112277"/>
                          </a:solidFill>
                          <a:effectLst/>
                          <a:latin typeface="Arial" panose="020B0604020202020204" pitchFamily="34" charset="0"/>
                        </a:rPr>
                        <a:t>3</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COL279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-4.5576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-7.3530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-1.7623</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4.7564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3.9451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5.9908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3.9178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5.9430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242011884"/>
                  </a:ext>
                </a:extLst>
              </a:tr>
              <a:tr h="89746">
                <a:tc>
                  <a:txBody>
                    <a:bodyPr/>
                    <a:lstStyle/>
                    <a:p>
                      <a:pPr algn="r" fontAlgn="t"/>
                      <a:r>
                        <a:rPr lang="en-US" sz="400" b="1" i="0" dirty="0">
                          <a:solidFill>
                            <a:srgbClr val="112277"/>
                          </a:solidFill>
                          <a:effectLst/>
                          <a:latin typeface="Arial" panose="020B0604020202020204" pitchFamily="34" charset="0"/>
                        </a:rPr>
                        <a:t>4</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COL360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-4.8897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-7.6340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-2.1454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4.6695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3.8731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5.8814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3.8462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5.8345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1481434950"/>
                  </a:ext>
                </a:extLst>
              </a:tr>
              <a:tr h="89746">
                <a:tc>
                  <a:txBody>
                    <a:bodyPr/>
                    <a:lstStyle/>
                    <a:p>
                      <a:pPr algn="r" fontAlgn="t"/>
                      <a:r>
                        <a:rPr lang="en-US" sz="400" b="1" i="0" dirty="0">
                          <a:solidFill>
                            <a:srgbClr val="112277"/>
                          </a:solidFill>
                          <a:effectLst/>
                          <a:latin typeface="Arial" panose="020B0604020202020204" pitchFamily="34" charset="0"/>
                        </a:rPr>
                        <a:t>5</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COL537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4.3826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1.5621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7.2031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4.7991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3.9806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6.0446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3.9530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5.9964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552476582"/>
                  </a:ext>
                </a:extLst>
              </a:tr>
              <a:tr h="89746">
                <a:tc>
                  <a:txBody>
                    <a:bodyPr/>
                    <a:lstStyle/>
                    <a:p>
                      <a:pPr algn="r" fontAlgn="t"/>
                      <a:r>
                        <a:rPr lang="en-US" sz="400" b="1" i="0" dirty="0">
                          <a:solidFill>
                            <a:srgbClr val="112277"/>
                          </a:solidFill>
                          <a:effectLst/>
                          <a:latin typeface="Arial" panose="020B0604020202020204" pitchFamily="34" charset="0"/>
                        </a:rPr>
                        <a:t>6</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COL551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-5.0514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-7.7692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-2.3337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4.6243</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3.8356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5.8245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3.8090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5.7781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4237698156"/>
                  </a:ext>
                </a:extLst>
              </a:tr>
              <a:tr h="89746">
                <a:tc>
                  <a:txBody>
                    <a:bodyPr/>
                    <a:lstStyle/>
                    <a:p>
                      <a:pPr algn="r" fontAlgn="t"/>
                      <a:r>
                        <a:rPr lang="en-US" sz="400" b="1" i="0" dirty="0">
                          <a:solidFill>
                            <a:srgbClr val="112277"/>
                          </a:solidFill>
                          <a:effectLst/>
                          <a:latin typeface="Arial" panose="020B0604020202020204" pitchFamily="34" charset="0"/>
                        </a:rPr>
                        <a:t>7</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COL604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-4.7109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-7.4832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-1.9385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4.7172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3.9127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5.9415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3.8855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5.8942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726207768"/>
                  </a:ext>
                </a:extLst>
              </a:tr>
              <a:tr h="89746">
                <a:tc>
                  <a:txBody>
                    <a:bodyPr/>
                    <a:lstStyle/>
                    <a:p>
                      <a:pPr algn="r" fontAlgn="t"/>
                      <a:r>
                        <a:rPr lang="en-US" sz="400" b="1" i="0" dirty="0">
                          <a:solidFill>
                            <a:srgbClr val="112277"/>
                          </a:solidFill>
                          <a:effectLst/>
                          <a:latin typeface="Arial" panose="020B0604020202020204" pitchFamily="34" charset="0"/>
                        </a:rPr>
                        <a:t>8</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COL664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4.6636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1.8840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7.4431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4.7295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3.9228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5.9569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3.8956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5.9095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623216107"/>
                  </a:ext>
                </a:extLst>
              </a:tr>
            </a:tbl>
          </a:graphicData>
        </a:graphic>
      </p:graphicFrame>
      <p:sp>
        <p:nvSpPr>
          <p:cNvPr id="6" name="TextBox 5">
            <a:extLst>
              <a:ext uri="{FF2B5EF4-FFF2-40B4-BE49-F238E27FC236}">
                <a16:creationId xmlns:a16="http://schemas.microsoft.com/office/drawing/2014/main" id="{80806072-3348-A486-1513-A9EA19E2EFEB}"/>
              </a:ext>
            </a:extLst>
          </p:cNvPr>
          <p:cNvSpPr txBox="1"/>
          <p:nvPr/>
        </p:nvSpPr>
        <p:spPr>
          <a:xfrm>
            <a:off x="146892" y="1731526"/>
            <a:ext cx="3053508" cy="37548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intrinsic / extrinsic treatment has no effect on creativity.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mean creativity score of the intrinsic group is equal to the mean score of the extrinsic group.)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difference in the mean from the sample that received the intrinsic motivation was 4.14 points higher than the mean from the sample that received the extrinsic motivation.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Probability: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estimated probability that a difference 4.14 or larger in sample mean scores would occur if there was not effect is .008. </a:t>
            </a:r>
          </a:p>
        </p:txBody>
      </p:sp>
      <p:sp>
        <p:nvSpPr>
          <p:cNvPr id="18" name="Right Arrow 17">
            <a:extLst>
              <a:ext uri="{FF2B5EF4-FFF2-40B4-BE49-F238E27FC236}">
                <a16:creationId xmlns:a16="http://schemas.microsoft.com/office/drawing/2014/main" id="{A7EEA5EC-9954-FBE3-4C71-6B1F7443644A}"/>
              </a:ext>
            </a:extLst>
          </p:cNvPr>
          <p:cNvSpPr/>
          <p:nvPr/>
        </p:nvSpPr>
        <p:spPr>
          <a:xfrm rot="10800000">
            <a:off x="2819400" y="4456040"/>
            <a:ext cx="554909" cy="344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2E29F4C2-E6EB-CFBF-1156-413D94B99553}"/>
              </a:ext>
            </a:extLst>
          </p:cNvPr>
          <p:cNvSpPr/>
          <p:nvPr/>
        </p:nvSpPr>
        <p:spPr>
          <a:xfrm>
            <a:off x="5791874" y="3760898"/>
            <a:ext cx="2279722"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P-value = 8/1000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              = 0.008</a:t>
            </a:r>
          </a:p>
        </p:txBody>
      </p:sp>
    </p:spTree>
    <p:extLst>
      <p:ext uri="{BB962C8B-B14F-4D97-AF65-F5344CB8AC3E}">
        <p14:creationId xmlns:p14="http://schemas.microsoft.com/office/powerpoint/2010/main" val="258774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6">
                                            <p:txEl>
                                              <p:pRg st="6" end="6"/>
                                            </p:txEl>
                                          </p:spTgt>
                                        </p:tgtEl>
                                        <p:attrNameLst>
                                          <p:attrName>style.visibility</p:attrName>
                                        </p:attrNameLst>
                                      </p:cBhvr>
                                      <p:to>
                                        <p:strVal val="visible"/>
                                      </p:to>
                                    </p:set>
                                    <p:animEffect transition="in" filter="fade">
                                      <p:cBhvr>
                                        <p:cTn id="50" dur="500"/>
                                        <p:tgtEl>
                                          <p:spTgt spid="6">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3" grpId="0"/>
      <p:bldP spid="18" grpId="0" animBg="1"/>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0882-D422-71DA-2852-7006183D2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DAEBE-6F7C-F6B4-AB35-E611BF7761C5}"/>
              </a:ext>
            </a:extLst>
          </p:cNvPr>
          <p:cNvSpPr>
            <a:spLocks noGrp="1"/>
          </p:cNvSpPr>
          <p:nvPr>
            <p:ph type="title"/>
          </p:nvPr>
        </p:nvSpPr>
        <p:spPr/>
        <p:txBody>
          <a:bodyPr/>
          <a:lstStyle/>
          <a:p>
            <a:r>
              <a:rPr lang="en-US" dirty="0"/>
              <a:t>Creativity Study</a:t>
            </a:r>
          </a:p>
        </p:txBody>
      </p:sp>
      <p:sp>
        <p:nvSpPr>
          <p:cNvPr id="6" name="TextBox 5">
            <a:extLst>
              <a:ext uri="{FF2B5EF4-FFF2-40B4-BE49-F238E27FC236}">
                <a16:creationId xmlns:a16="http://schemas.microsoft.com/office/drawing/2014/main" id="{01352AC1-B7FC-FE68-0D5E-2C72DE487C35}"/>
              </a:ext>
            </a:extLst>
          </p:cNvPr>
          <p:cNvSpPr txBox="1"/>
          <p:nvPr/>
        </p:nvSpPr>
        <p:spPr>
          <a:xfrm>
            <a:off x="136634" y="1676400"/>
            <a:ext cx="11876690"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intrinsic / extrinsic treatment has no effect on creativity.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mean creativity score of the intrinsic group is equal to the mean score of the extrinsic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difference in the mean from the sample that received the intrinsic motivation was 4.14 points higher than the mean from the sample that received the extrinsic motivation.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The probability is very small (</a:t>
            </a:r>
            <a:r>
              <a:rPr lang="en-US" dirty="0" err="1">
                <a:solidFill>
                  <a:srgbClr val="000000"/>
                </a:solidFill>
                <a:latin typeface="Arial"/>
              </a:rPr>
              <a:t>approx</a:t>
            </a:r>
            <a:r>
              <a:rPr lang="en-US" dirty="0">
                <a:solidFill>
                  <a:srgbClr val="000000"/>
                </a:solidFill>
                <a:latin typeface="Arial"/>
              </a:rPr>
              <a:t> .5%) that we would observe something as rare as 4.14 if the true are equal. </a:t>
            </a: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Arial"/>
              </a:rPr>
              <a:t>Decision: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Reject Ho: the means are equal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Arial"/>
              </a:rPr>
              <a:t>Conclusion: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There is strong evidence to suggest that the means are different (</a:t>
            </a:r>
            <a:r>
              <a:rPr lang="en-US" dirty="0" err="1">
                <a:solidFill>
                  <a:srgbClr val="000000"/>
                </a:solidFill>
                <a:latin typeface="Arial"/>
              </a:rPr>
              <a:t>pvalue</a:t>
            </a:r>
            <a:r>
              <a:rPr lang="en-US" dirty="0">
                <a:solidFill>
                  <a:srgbClr val="000000"/>
                </a:solidFill>
                <a:latin typeface="Arial"/>
              </a:rPr>
              <a:t> = .008).</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040690F-D7D3-89C6-5DAD-2BE2741B1A21}"/>
                  </a:ext>
                </a:extLst>
              </p:cNvPr>
              <p:cNvSpPr txBox="1"/>
              <p:nvPr/>
            </p:nvSpPr>
            <p:spPr>
              <a:xfrm>
                <a:off x="7543800" y="1524000"/>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xmlns="">
          <p:sp>
            <p:nvSpPr>
              <p:cNvPr id="19" name="TextBox 18">
                <a:extLst>
                  <a:ext uri="{FF2B5EF4-FFF2-40B4-BE49-F238E27FC236}">
                    <a16:creationId xmlns:a16="http://schemas.microsoft.com/office/drawing/2014/main" id="{026CF454-9DBA-9740-BDF0-C9B56DA2976C}"/>
                  </a:ext>
                </a:extLst>
              </p:cNvPr>
              <p:cNvSpPr txBox="1">
                <a:spLocks noRot="1" noChangeAspect="1" noMove="1" noResize="1" noEditPoints="1" noAdjustHandles="1" noChangeArrowheads="1" noChangeShapeType="1" noTextEdit="1"/>
              </p:cNvSpPr>
              <p:nvPr/>
            </p:nvSpPr>
            <p:spPr>
              <a:xfrm>
                <a:off x="7543800" y="1524000"/>
                <a:ext cx="1953202" cy="646331"/>
              </a:xfrm>
              <a:prstGeom prst="rect">
                <a:avLst/>
              </a:prstGeom>
              <a:blipFill>
                <a:blip r:embed="rId2"/>
                <a:stretch>
                  <a:fillRect t="-3922"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B84E643-379C-6D3D-46BE-D0259797F22B}"/>
                  </a:ext>
                </a:extLst>
              </p:cNvPr>
              <p:cNvSpPr/>
              <p:nvPr/>
            </p:nvSpPr>
            <p:spPr>
              <a:xfrm>
                <a:off x="6812818" y="3429000"/>
                <a:ext cx="178234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=4.1442</a:t>
                </a:r>
              </a:p>
            </p:txBody>
          </p:sp>
        </mc:Choice>
        <mc:Fallback xmlns="">
          <p:sp>
            <p:nvSpPr>
              <p:cNvPr id="20" name="Rectangle 19">
                <a:extLst>
                  <a:ext uri="{FF2B5EF4-FFF2-40B4-BE49-F238E27FC236}">
                    <a16:creationId xmlns:a16="http://schemas.microsoft.com/office/drawing/2014/main" id="{77C0B7F4-8B56-5A46-BB6C-015D1D634C94}"/>
                  </a:ext>
                </a:extLst>
              </p:cNvPr>
              <p:cNvSpPr>
                <a:spLocks noRot="1" noChangeAspect="1" noMove="1" noResize="1" noEditPoints="1" noAdjustHandles="1" noChangeArrowheads="1" noChangeShapeType="1" noTextEdit="1"/>
              </p:cNvSpPr>
              <p:nvPr/>
            </p:nvSpPr>
            <p:spPr>
              <a:xfrm>
                <a:off x="6812818" y="3429000"/>
                <a:ext cx="1782347" cy="369332"/>
              </a:xfrm>
              <a:prstGeom prst="rect">
                <a:avLst/>
              </a:prstGeom>
              <a:blipFill>
                <a:blip r:embed="rId3"/>
                <a:stretch>
                  <a:fillRect t="-10000" r="-2128" b="-23333"/>
                </a:stretch>
              </a:blipFill>
            </p:spPr>
            <p:txBody>
              <a:bodyPr/>
              <a:lstStyle/>
              <a:p>
                <a:r>
                  <a:rPr lang="en-US">
                    <a:noFill/>
                  </a:rPr>
                  <a:t> </a:t>
                </a:r>
              </a:p>
            </p:txBody>
          </p:sp>
        </mc:Fallback>
      </mc:AlternateContent>
    </p:spTree>
    <p:extLst>
      <p:ext uri="{BB962C8B-B14F-4D97-AF65-F5344CB8AC3E}">
        <p14:creationId xmlns:p14="http://schemas.microsoft.com/office/powerpoint/2010/main" val="37096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500"/>
                                        <p:tgtEl>
                                          <p:spTgt spid="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500"/>
                                        <p:tgtEl>
                                          <p:spTgt spid="6">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animEffect transition="in" filter="fade">
                                      <p:cBhvr>
                                        <p:cTn id="41" dur="500"/>
                                        <p:tgtEl>
                                          <p:spTgt spid="6">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10" end="10"/>
                                            </p:txEl>
                                          </p:spTgt>
                                        </p:tgtEl>
                                        <p:attrNameLst>
                                          <p:attrName>style.visibility</p:attrName>
                                        </p:attrNameLst>
                                      </p:cBhvr>
                                      <p:to>
                                        <p:strVal val="visible"/>
                                      </p:to>
                                    </p:set>
                                    <p:animEffect transition="in" filter="fade">
                                      <p:cBhvr>
                                        <p:cTn id="46" dur="500"/>
                                        <p:tgtEl>
                                          <p:spTgt spid="6">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animEffect transition="in" filter="fade">
                                      <p:cBhvr>
                                        <p:cTn id="51" dur="500"/>
                                        <p:tgtEl>
                                          <p:spTgt spid="6">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xEl>
                                              <p:pRg st="13" end="13"/>
                                            </p:txEl>
                                          </p:spTgt>
                                        </p:tgtEl>
                                        <p:attrNameLst>
                                          <p:attrName>style.visibility</p:attrName>
                                        </p:attrNameLst>
                                      </p:cBhvr>
                                      <p:to>
                                        <p:strVal val="visible"/>
                                      </p:to>
                                    </p:set>
                                    <p:animEffect transition="in" filter="fade">
                                      <p:cBhvr>
                                        <p:cTn id="56" dur="500"/>
                                        <p:tgtEl>
                                          <p:spTgt spid="6">
                                            <p:txEl>
                                              <p:pRg st="13" end="1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
                                            <p:txEl>
                                              <p:pRg st="14" end="14"/>
                                            </p:txEl>
                                          </p:spTgt>
                                        </p:tgtEl>
                                        <p:attrNameLst>
                                          <p:attrName>style.visibility</p:attrName>
                                        </p:attrNameLst>
                                      </p:cBhvr>
                                      <p:to>
                                        <p:strVal val="visible"/>
                                      </p:to>
                                    </p:set>
                                    <p:animEffect transition="in" filter="fade">
                                      <p:cBhvr>
                                        <p:cTn id="61" dur="500"/>
                                        <p:tgtEl>
                                          <p:spTgt spid="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TotalTime>
  <Words>1156</Words>
  <Application>Microsoft Macintosh PowerPoint</Application>
  <PresentationFormat>Widescreen</PresentationFormat>
  <Paragraphs>294</Paragraphs>
  <Slides>13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Aptos</vt:lpstr>
      <vt:lpstr>Aptos Display</vt:lpstr>
      <vt:lpstr>Arial</vt:lpstr>
      <vt:lpstr>Calibri</vt:lpstr>
      <vt:lpstr>Cambria Math</vt:lpstr>
      <vt:lpstr>Wingdings</vt:lpstr>
      <vt:lpstr>Office Theme</vt:lpstr>
      <vt:lpstr>1_Body Slides</vt:lpstr>
      <vt:lpstr>DSC 80 Discussion #2</vt:lpstr>
      <vt:lpstr>THE LOTTERY! </vt:lpstr>
      <vt:lpstr>PowerPoint Presentation</vt:lpstr>
      <vt:lpstr>Break Out!</vt:lpstr>
      <vt:lpstr> Strategy: You run an experiment and roll a 6-sided die 120 times, record the counts of each face </vt:lpstr>
      <vt:lpstr>Fair Die?</vt:lpstr>
      <vt:lpstr>Fair Die?</vt:lpstr>
      <vt:lpstr>Break Out!</vt:lpstr>
      <vt:lpstr>Creativity Study</vt:lpstr>
      <vt:lpstr>Creativity Study: Pvalue</vt:lpstr>
      <vt:lpstr>Creativity Study</vt:lpstr>
      <vt:lpstr>Creativity Study</vt:lpstr>
      <vt:lpstr>Creativity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Sadler, Bivin Philip</dc:creator>
  <cp:lastModifiedBy>Sadler, Bivin Philip</cp:lastModifiedBy>
  <cp:revision>2</cp:revision>
  <dcterms:created xsi:type="dcterms:W3CDTF">2025-08-17T22:23:52Z</dcterms:created>
  <dcterms:modified xsi:type="dcterms:W3CDTF">2025-08-18T09:25:52Z</dcterms:modified>
</cp:coreProperties>
</file>