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1"/>
  </p:notesMasterIdLst>
  <p:sldIdLst>
    <p:sldId id="256" r:id="rId3"/>
    <p:sldId id="399" r:id="rId4"/>
    <p:sldId id="398" r:id="rId5"/>
    <p:sldId id="394" r:id="rId6"/>
    <p:sldId id="395" r:id="rId7"/>
    <p:sldId id="396" r:id="rId8"/>
    <p:sldId id="397" r:id="rId9"/>
    <p:sldId id="40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29B62C-36F5-2E43-A7D0-3EAA6364BF74}" type="datetimeFigureOut">
              <a:rPr lang="en-US" smtClean="0"/>
              <a:t>8/17/25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D243D9-319A-6548-8560-55C0DA7C3D19}" type="slidenum">
              <a:rPr lang="en-US" smtClean="0"/>
              <a:t>‹#›</a:t>
            </a:fld>
            <a:endParaRPr lang="en-US"/>
          </a:p>
        </p:txBody>
      </p:sp>
    </p:spTree>
    <p:extLst>
      <p:ext uri="{BB962C8B-B14F-4D97-AF65-F5344CB8AC3E}">
        <p14:creationId xmlns:p14="http://schemas.microsoft.com/office/powerpoint/2010/main" val="818896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35F02-0476-AB9B-5DE6-DFCBFDA544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E91B28-7351-4639-F2CB-438119163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6BEC8A-DB0D-6373-C745-BBCF272FEA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84A8ED-4131-1149-15BD-93B3C6D95D0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27E32AD-9AF3-4101-B38C-45B71FAEDE2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68514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1E541-BF91-B3F2-D66D-DB41A41CDA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66A8152-2E85-886B-8342-60817BDBE9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0F1E38-57BD-932E-CFAF-43B8E063F31E}"/>
              </a:ext>
            </a:extLst>
          </p:cNvPr>
          <p:cNvSpPr>
            <a:spLocks noGrp="1"/>
          </p:cNvSpPr>
          <p:nvPr>
            <p:ph type="dt" sz="half" idx="10"/>
          </p:nvPr>
        </p:nvSpPr>
        <p:spPr/>
        <p:txBody>
          <a:bodyPr/>
          <a:lstStyle/>
          <a:p>
            <a:fld id="{6D2CBB1E-B37A-2940-9500-70F1C21670B4}" type="datetimeFigureOut">
              <a:rPr lang="en-US" smtClean="0"/>
              <a:t>8/17/25</a:t>
            </a:fld>
            <a:endParaRPr lang="en-US"/>
          </a:p>
        </p:txBody>
      </p:sp>
      <p:sp>
        <p:nvSpPr>
          <p:cNvPr id="5" name="Footer Placeholder 4">
            <a:extLst>
              <a:ext uri="{FF2B5EF4-FFF2-40B4-BE49-F238E27FC236}">
                <a16:creationId xmlns:a16="http://schemas.microsoft.com/office/drawing/2014/main" id="{96650838-7C30-3841-F254-732A0CB857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B9CBF6-96A5-05C1-0363-50C87DD18838}"/>
              </a:ext>
            </a:extLst>
          </p:cNvPr>
          <p:cNvSpPr>
            <a:spLocks noGrp="1"/>
          </p:cNvSpPr>
          <p:nvPr>
            <p:ph type="sldNum" sz="quarter" idx="12"/>
          </p:nvPr>
        </p:nvSpPr>
        <p:spPr/>
        <p:txBody>
          <a:bodyPr/>
          <a:lstStyle/>
          <a:p>
            <a:fld id="{E2A30CBF-B97A-BE4E-B7A1-EFBD787A3B69}" type="slidenum">
              <a:rPr lang="en-US" smtClean="0"/>
              <a:t>‹#›</a:t>
            </a:fld>
            <a:endParaRPr lang="en-US"/>
          </a:p>
        </p:txBody>
      </p:sp>
    </p:spTree>
    <p:extLst>
      <p:ext uri="{BB962C8B-B14F-4D97-AF65-F5344CB8AC3E}">
        <p14:creationId xmlns:p14="http://schemas.microsoft.com/office/powerpoint/2010/main" val="42044666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F499B-2387-19E2-5BC4-24234D30A6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DE56AE-053A-1973-37D0-CA3CDE5EFC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68C6D0-D7D4-10B9-6C4D-F98E653AC07D}"/>
              </a:ext>
            </a:extLst>
          </p:cNvPr>
          <p:cNvSpPr>
            <a:spLocks noGrp="1"/>
          </p:cNvSpPr>
          <p:nvPr>
            <p:ph type="dt" sz="half" idx="10"/>
          </p:nvPr>
        </p:nvSpPr>
        <p:spPr/>
        <p:txBody>
          <a:bodyPr/>
          <a:lstStyle/>
          <a:p>
            <a:fld id="{6D2CBB1E-B37A-2940-9500-70F1C21670B4}" type="datetimeFigureOut">
              <a:rPr lang="en-US" smtClean="0"/>
              <a:t>8/17/25</a:t>
            </a:fld>
            <a:endParaRPr lang="en-US"/>
          </a:p>
        </p:txBody>
      </p:sp>
      <p:sp>
        <p:nvSpPr>
          <p:cNvPr id="5" name="Footer Placeholder 4">
            <a:extLst>
              <a:ext uri="{FF2B5EF4-FFF2-40B4-BE49-F238E27FC236}">
                <a16:creationId xmlns:a16="http://schemas.microsoft.com/office/drawing/2014/main" id="{68BA06FB-6EC2-EEB6-5991-529426DDCC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4A1207-9866-940E-3670-1363840F1364}"/>
              </a:ext>
            </a:extLst>
          </p:cNvPr>
          <p:cNvSpPr>
            <a:spLocks noGrp="1"/>
          </p:cNvSpPr>
          <p:nvPr>
            <p:ph type="sldNum" sz="quarter" idx="12"/>
          </p:nvPr>
        </p:nvSpPr>
        <p:spPr/>
        <p:txBody>
          <a:bodyPr/>
          <a:lstStyle/>
          <a:p>
            <a:fld id="{E2A30CBF-B97A-BE4E-B7A1-EFBD787A3B69}" type="slidenum">
              <a:rPr lang="en-US" smtClean="0"/>
              <a:t>‹#›</a:t>
            </a:fld>
            <a:endParaRPr lang="en-US"/>
          </a:p>
        </p:txBody>
      </p:sp>
    </p:spTree>
    <p:extLst>
      <p:ext uri="{BB962C8B-B14F-4D97-AF65-F5344CB8AC3E}">
        <p14:creationId xmlns:p14="http://schemas.microsoft.com/office/powerpoint/2010/main" val="3128174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B6582-1C6E-37A3-EB27-BB535EDB70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702702-F786-7DA2-84A5-626048090C6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40501F-47C5-4072-638B-639F2EF06802}"/>
              </a:ext>
            </a:extLst>
          </p:cNvPr>
          <p:cNvSpPr>
            <a:spLocks noGrp="1"/>
          </p:cNvSpPr>
          <p:nvPr>
            <p:ph type="dt" sz="half" idx="10"/>
          </p:nvPr>
        </p:nvSpPr>
        <p:spPr/>
        <p:txBody>
          <a:bodyPr/>
          <a:lstStyle/>
          <a:p>
            <a:fld id="{6D2CBB1E-B37A-2940-9500-70F1C21670B4}" type="datetimeFigureOut">
              <a:rPr lang="en-US" smtClean="0"/>
              <a:t>8/17/25</a:t>
            </a:fld>
            <a:endParaRPr lang="en-US"/>
          </a:p>
        </p:txBody>
      </p:sp>
      <p:sp>
        <p:nvSpPr>
          <p:cNvPr id="5" name="Footer Placeholder 4">
            <a:extLst>
              <a:ext uri="{FF2B5EF4-FFF2-40B4-BE49-F238E27FC236}">
                <a16:creationId xmlns:a16="http://schemas.microsoft.com/office/drawing/2014/main" id="{743EA07C-9F61-C665-54E8-AFEADF5113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2334BB-4873-4486-3F70-07C8E0F431E6}"/>
              </a:ext>
            </a:extLst>
          </p:cNvPr>
          <p:cNvSpPr>
            <a:spLocks noGrp="1"/>
          </p:cNvSpPr>
          <p:nvPr>
            <p:ph type="sldNum" sz="quarter" idx="12"/>
          </p:nvPr>
        </p:nvSpPr>
        <p:spPr/>
        <p:txBody>
          <a:bodyPr/>
          <a:lstStyle/>
          <a:p>
            <a:fld id="{E2A30CBF-B97A-BE4E-B7A1-EFBD787A3B69}" type="slidenum">
              <a:rPr lang="en-US" smtClean="0"/>
              <a:t>‹#›</a:t>
            </a:fld>
            <a:endParaRPr lang="en-US"/>
          </a:p>
        </p:txBody>
      </p:sp>
    </p:spTree>
    <p:extLst>
      <p:ext uri="{BB962C8B-B14F-4D97-AF65-F5344CB8AC3E}">
        <p14:creationId xmlns:p14="http://schemas.microsoft.com/office/powerpoint/2010/main" val="1212327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14CA0-6773-CBD9-0900-E93EB60AD1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DBEF56E-3B4C-AED9-6E4A-7AD54547DF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1B6A103-C11A-4F8E-3083-ECB45EBD11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9E90C58-AA54-2EF6-E02F-DE81AD0CFD36}"/>
              </a:ext>
            </a:extLst>
          </p:cNvPr>
          <p:cNvSpPr>
            <a:spLocks noGrp="1"/>
          </p:cNvSpPr>
          <p:nvPr>
            <p:ph type="dt" sz="half" idx="10"/>
          </p:nvPr>
        </p:nvSpPr>
        <p:spPr/>
        <p:txBody>
          <a:bodyPr/>
          <a:lstStyle/>
          <a:p>
            <a:fld id="{6D2CBB1E-B37A-2940-9500-70F1C21670B4}" type="datetimeFigureOut">
              <a:rPr lang="en-US" smtClean="0"/>
              <a:t>8/17/25</a:t>
            </a:fld>
            <a:endParaRPr lang="en-US"/>
          </a:p>
        </p:txBody>
      </p:sp>
      <p:sp>
        <p:nvSpPr>
          <p:cNvPr id="6" name="Footer Placeholder 5">
            <a:extLst>
              <a:ext uri="{FF2B5EF4-FFF2-40B4-BE49-F238E27FC236}">
                <a16:creationId xmlns:a16="http://schemas.microsoft.com/office/drawing/2014/main" id="{32FBF3D8-121C-414A-7DE8-A8F5639A5A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FEC649-3B7D-0B06-DA43-DD8515FE1CBF}"/>
              </a:ext>
            </a:extLst>
          </p:cNvPr>
          <p:cNvSpPr>
            <a:spLocks noGrp="1"/>
          </p:cNvSpPr>
          <p:nvPr>
            <p:ph type="sldNum" sz="quarter" idx="12"/>
          </p:nvPr>
        </p:nvSpPr>
        <p:spPr/>
        <p:txBody>
          <a:bodyPr/>
          <a:lstStyle/>
          <a:p>
            <a:fld id="{E2A30CBF-B97A-BE4E-B7A1-EFBD787A3B69}" type="slidenum">
              <a:rPr lang="en-US" smtClean="0"/>
              <a:t>‹#›</a:t>
            </a:fld>
            <a:endParaRPr lang="en-US"/>
          </a:p>
        </p:txBody>
      </p:sp>
    </p:spTree>
    <p:extLst>
      <p:ext uri="{BB962C8B-B14F-4D97-AF65-F5344CB8AC3E}">
        <p14:creationId xmlns:p14="http://schemas.microsoft.com/office/powerpoint/2010/main" val="671622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92329-CB0F-76DC-629B-0BEA5EF153D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8D32DDB-E035-8836-1E54-684B08EB2A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3C2D181-06C2-6071-A4D5-8B837A6FF1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F2A0B4A-6B55-64DD-D9A3-687FFA765B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D2727F-2E3C-E914-6BDE-3A991E6E39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6E392B5-BE60-83A6-FCF2-1779A12E11C4}"/>
              </a:ext>
            </a:extLst>
          </p:cNvPr>
          <p:cNvSpPr>
            <a:spLocks noGrp="1"/>
          </p:cNvSpPr>
          <p:nvPr>
            <p:ph type="dt" sz="half" idx="10"/>
          </p:nvPr>
        </p:nvSpPr>
        <p:spPr/>
        <p:txBody>
          <a:bodyPr/>
          <a:lstStyle/>
          <a:p>
            <a:fld id="{6D2CBB1E-B37A-2940-9500-70F1C21670B4}" type="datetimeFigureOut">
              <a:rPr lang="en-US" smtClean="0"/>
              <a:t>8/17/25</a:t>
            </a:fld>
            <a:endParaRPr lang="en-US"/>
          </a:p>
        </p:txBody>
      </p:sp>
      <p:sp>
        <p:nvSpPr>
          <p:cNvPr id="8" name="Footer Placeholder 7">
            <a:extLst>
              <a:ext uri="{FF2B5EF4-FFF2-40B4-BE49-F238E27FC236}">
                <a16:creationId xmlns:a16="http://schemas.microsoft.com/office/drawing/2014/main" id="{810C4AA1-9C9A-14E8-4FE5-93A75E2C81A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86AB41D-66CD-325C-8883-DDC43ADB3F7D}"/>
              </a:ext>
            </a:extLst>
          </p:cNvPr>
          <p:cNvSpPr>
            <a:spLocks noGrp="1"/>
          </p:cNvSpPr>
          <p:nvPr>
            <p:ph type="sldNum" sz="quarter" idx="12"/>
          </p:nvPr>
        </p:nvSpPr>
        <p:spPr/>
        <p:txBody>
          <a:bodyPr/>
          <a:lstStyle/>
          <a:p>
            <a:fld id="{E2A30CBF-B97A-BE4E-B7A1-EFBD787A3B69}" type="slidenum">
              <a:rPr lang="en-US" smtClean="0"/>
              <a:t>‹#›</a:t>
            </a:fld>
            <a:endParaRPr lang="en-US"/>
          </a:p>
        </p:txBody>
      </p:sp>
    </p:spTree>
    <p:extLst>
      <p:ext uri="{BB962C8B-B14F-4D97-AF65-F5344CB8AC3E}">
        <p14:creationId xmlns:p14="http://schemas.microsoft.com/office/powerpoint/2010/main" val="2214680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C5184-8A64-8992-081D-BCEDBCD1D89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74499BE-67A2-F8B3-0345-02E769887355}"/>
              </a:ext>
            </a:extLst>
          </p:cNvPr>
          <p:cNvSpPr>
            <a:spLocks noGrp="1"/>
          </p:cNvSpPr>
          <p:nvPr>
            <p:ph type="dt" sz="half" idx="10"/>
          </p:nvPr>
        </p:nvSpPr>
        <p:spPr/>
        <p:txBody>
          <a:bodyPr/>
          <a:lstStyle/>
          <a:p>
            <a:fld id="{6D2CBB1E-B37A-2940-9500-70F1C21670B4}" type="datetimeFigureOut">
              <a:rPr lang="en-US" smtClean="0"/>
              <a:t>8/17/25</a:t>
            </a:fld>
            <a:endParaRPr lang="en-US"/>
          </a:p>
        </p:txBody>
      </p:sp>
      <p:sp>
        <p:nvSpPr>
          <p:cNvPr id="4" name="Footer Placeholder 3">
            <a:extLst>
              <a:ext uri="{FF2B5EF4-FFF2-40B4-BE49-F238E27FC236}">
                <a16:creationId xmlns:a16="http://schemas.microsoft.com/office/drawing/2014/main" id="{153B7130-DD40-0638-3570-FFBE1EC7332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8269C9A-84AE-F64E-408A-7B7A1A60156C}"/>
              </a:ext>
            </a:extLst>
          </p:cNvPr>
          <p:cNvSpPr>
            <a:spLocks noGrp="1"/>
          </p:cNvSpPr>
          <p:nvPr>
            <p:ph type="sldNum" sz="quarter" idx="12"/>
          </p:nvPr>
        </p:nvSpPr>
        <p:spPr/>
        <p:txBody>
          <a:bodyPr/>
          <a:lstStyle/>
          <a:p>
            <a:fld id="{E2A30CBF-B97A-BE4E-B7A1-EFBD787A3B69}" type="slidenum">
              <a:rPr lang="en-US" smtClean="0"/>
              <a:t>‹#›</a:t>
            </a:fld>
            <a:endParaRPr lang="en-US"/>
          </a:p>
        </p:txBody>
      </p:sp>
    </p:spTree>
    <p:extLst>
      <p:ext uri="{BB962C8B-B14F-4D97-AF65-F5344CB8AC3E}">
        <p14:creationId xmlns:p14="http://schemas.microsoft.com/office/powerpoint/2010/main" val="2227168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7B38F9-59F6-B312-2BED-D24F600FAB4A}"/>
              </a:ext>
            </a:extLst>
          </p:cNvPr>
          <p:cNvSpPr>
            <a:spLocks noGrp="1"/>
          </p:cNvSpPr>
          <p:nvPr>
            <p:ph type="dt" sz="half" idx="10"/>
          </p:nvPr>
        </p:nvSpPr>
        <p:spPr/>
        <p:txBody>
          <a:bodyPr/>
          <a:lstStyle/>
          <a:p>
            <a:fld id="{6D2CBB1E-B37A-2940-9500-70F1C21670B4}" type="datetimeFigureOut">
              <a:rPr lang="en-US" smtClean="0"/>
              <a:t>8/17/25</a:t>
            </a:fld>
            <a:endParaRPr lang="en-US"/>
          </a:p>
        </p:txBody>
      </p:sp>
      <p:sp>
        <p:nvSpPr>
          <p:cNvPr id="3" name="Footer Placeholder 2">
            <a:extLst>
              <a:ext uri="{FF2B5EF4-FFF2-40B4-BE49-F238E27FC236}">
                <a16:creationId xmlns:a16="http://schemas.microsoft.com/office/drawing/2014/main" id="{6EEA3E9A-6521-F5B5-89A6-E9D7E9CF58F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A3CF55F-F631-45DE-F4EB-A3A2D15F4333}"/>
              </a:ext>
            </a:extLst>
          </p:cNvPr>
          <p:cNvSpPr>
            <a:spLocks noGrp="1"/>
          </p:cNvSpPr>
          <p:nvPr>
            <p:ph type="sldNum" sz="quarter" idx="12"/>
          </p:nvPr>
        </p:nvSpPr>
        <p:spPr/>
        <p:txBody>
          <a:bodyPr/>
          <a:lstStyle/>
          <a:p>
            <a:fld id="{E2A30CBF-B97A-BE4E-B7A1-EFBD787A3B69}" type="slidenum">
              <a:rPr lang="en-US" smtClean="0"/>
              <a:t>‹#›</a:t>
            </a:fld>
            <a:endParaRPr lang="en-US"/>
          </a:p>
        </p:txBody>
      </p:sp>
    </p:spTree>
    <p:extLst>
      <p:ext uri="{BB962C8B-B14F-4D97-AF65-F5344CB8AC3E}">
        <p14:creationId xmlns:p14="http://schemas.microsoft.com/office/powerpoint/2010/main" val="1358997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8E223-F748-5475-EA18-8C892F1814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43460CF-DA33-F0C3-10EE-D21B771AC6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D71EEE7-D9C2-BF48-2558-09EBCB5FAA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F9EE99-21A3-6D2A-ED76-DE48C630B662}"/>
              </a:ext>
            </a:extLst>
          </p:cNvPr>
          <p:cNvSpPr>
            <a:spLocks noGrp="1"/>
          </p:cNvSpPr>
          <p:nvPr>
            <p:ph type="dt" sz="half" idx="10"/>
          </p:nvPr>
        </p:nvSpPr>
        <p:spPr/>
        <p:txBody>
          <a:bodyPr/>
          <a:lstStyle/>
          <a:p>
            <a:fld id="{6D2CBB1E-B37A-2940-9500-70F1C21670B4}" type="datetimeFigureOut">
              <a:rPr lang="en-US" smtClean="0"/>
              <a:t>8/17/25</a:t>
            </a:fld>
            <a:endParaRPr lang="en-US"/>
          </a:p>
        </p:txBody>
      </p:sp>
      <p:sp>
        <p:nvSpPr>
          <p:cNvPr id="6" name="Footer Placeholder 5">
            <a:extLst>
              <a:ext uri="{FF2B5EF4-FFF2-40B4-BE49-F238E27FC236}">
                <a16:creationId xmlns:a16="http://schemas.microsoft.com/office/drawing/2014/main" id="{8EDB367F-C8F5-DC24-1B64-98D61A6C12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B4DF9B-C4DF-992A-8DE8-7607DF5F1DBD}"/>
              </a:ext>
            </a:extLst>
          </p:cNvPr>
          <p:cNvSpPr>
            <a:spLocks noGrp="1"/>
          </p:cNvSpPr>
          <p:nvPr>
            <p:ph type="sldNum" sz="quarter" idx="12"/>
          </p:nvPr>
        </p:nvSpPr>
        <p:spPr/>
        <p:txBody>
          <a:bodyPr/>
          <a:lstStyle/>
          <a:p>
            <a:fld id="{E2A30CBF-B97A-BE4E-B7A1-EFBD787A3B69}" type="slidenum">
              <a:rPr lang="en-US" smtClean="0"/>
              <a:t>‹#›</a:t>
            </a:fld>
            <a:endParaRPr lang="en-US"/>
          </a:p>
        </p:txBody>
      </p:sp>
    </p:spTree>
    <p:extLst>
      <p:ext uri="{BB962C8B-B14F-4D97-AF65-F5344CB8AC3E}">
        <p14:creationId xmlns:p14="http://schemas.microsoft.com/office/powerpoint/2010/main" val="700558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21E2E-CEF0-F5F0-E948-F0B994564F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A91D122-2B4D-50AA-7222-3ABF1BC4D2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F7DFBA8-5C66-A9DC-F701-9E87B768F3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F9E7D2-A592-24E9-8158-DB2966DE9D19}"/>
              </a:ext>
            </a:extLst>
          </p:cNvPr>
          <p:cNvSpPr>
            <a:spLocks noGrp="1"/>
          </p:cNvSpPr>
          <p:nvPr>
            <p:ph type="dt" sz="half" idx="10"/>
          </p:nvPr>
        </p:nvSpPr>
        <p:spPr/>
        <p:txBody>
          <a:bodyPr/>
          <a:lstStyle/>
          <a:p>
            <a:fld id="{6D2CBB1E-B37A-2940-9500-70F1C21670B4}" type="datetimeFigureOut">
              <a:rPr lang="en-US" smtClean="0"/>
              <a:t>8/17/25</a:t>
            </a:fld>
            <a:endParaRPr lang="en-US"/>
          </a:p>
        </p:txBody>
      </p:sp>
      <p:sp>
        <p:nvSpPr>
          <p:cNvPr id="6" name="Footer Placeholder 5">
            <a:extLst>
              <a:ext uri="{FF2B5EF4-FFF2-40B4-BE49-F238E27FC236}">
                <a16:creationId xmlns:a16="http://schemas.microsoft.com/office/drawing/2014/main" id="{F8082BB3-9C18-5E6C-4279-11745A5BF9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D01FD3-EB4D-D2FD-07C2-40CF6FCD68C9}"/>
              </a:ext>
            </a:extLst>
          </p:cNvPr>
          <p:cNvSpPr>
            <a:spLocks noGrp="1"/>
          </p:cNvSpPr>
          <p:nvPr>
            <p:ph type="sldNum" sz="quarter" idx="12"/>
          </p:nvPr>
        </p:nvSpPr>
        <p:spPr/>
        <p:txBody>
          <a:bodyPr/>
          <a:lstStyle/>
          <a:p>
            <a:fld id="{E2A30CBF-B97A-BE4E-B7A1-EFBD787A3B69}" type="slidenum">
              <a:rPr lang="en-US" smtClean="0"/>
              <a:t>‹#›</a:t>
            </a:fld>
            <a:endParaRPr lang="en-US"/>
          </a:p>
        </p:txBody>
      </p:sp>
    </p:spTree>
    <p:extLst>
      <p:ext uri="{BB962C8B-B14F-4D97-AF65-F5344CB8AC3E}">
        <p14:creationId xmlns:p14="http://schemas.microsoft.com/office/powerpoint/2010/main" val="33317413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814D0-611F-01D9-1CAB-42EC631CAD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135FBA8-493A-ED3B-86BF-E73FFB6E3B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2BA5E4-FF3F-C728-1350-CFA3F542C3D2}"/>
              </a:ext>
            </a:extLst>
          </p:cNvPr>
          <p:cNvSpPr>
            <a:spLocks noGrp="1"/>
          </p:cNvSpPr>
          <p:nvPr>
            <p:ph type="dt" sz="half" idx="10"/>
          </p:nvPr>
        </p:nvSpPr>
        <p:spPr/>
        <p:txBody>
          <a:bodyPr/>
          <a:lstStyle/>
          <a:p>
            <a:fld id="{6D2CBB1E-B37A-2940-9500-70F1C21670B4}" type="datetimeFigureOut">
              <a:rPr lang="en-US" smtClean="0"/>
              <a:t>8/17/25</a:t>
            </a:fld>
            <a:endParaRPr lang="en-US"/>
          </a:p>
        </p:txBody>
      </p:sp>
      <p:sp>
        <p:nvSpPr>
          <p:cNvPr id="5" name="Footer Placeholder 4">
            <a:extLst>
              <a:ext uri="{FF2B5EF4-FFF2-40B4-BE49-F238E27FC236}">
                <a16:creationId xmlns:a16="http://schemas.microsoft.com/office/drawing/2014/main" id="{67B6602A-4F10-642D-271E-1CADFE540B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3A0EF1-0812-AE0B-6134-C1E44B99C5A4}"/>
              </a:ext>
            </a:extLst>
          </p:cNvPr>
          <p:cNvSpPr>
            <a:spLocks noGrp="1"/>
          </p:cNvSpPr>
          <p:nvPr>
            <p:ph type="sldNum" sz="quarter" idx="12"/>
          </p:nvPr>
        </p:nvSpPr>
        <p:spPr/>
        <p:txBody>
          <a:bodyPr/>
          <a:lstStyle/>
          <a:p>
            <a:fld id="{E2A30CBF-B97A-BE4E-B7A1-EFBD787A3B69}" type="slidenum">
              <a:rPr lang="en-US" smtClean="0"/>
              <a:t>‹#›</a:t>
            </a:fld>
            <a:endParaRPr lang="en-US"/>
          </a:p>
        </p:txBody>
      </p:sp>
    </p:spTree>
    <p:extLst>
      <p:ext uri="{BB962C8B-B14F-4D97-AF65-F5344CB8AC3E}">
        <p14:creationId xmlns:p14="http://schemas.microsoft.com/office/powerpoint/2010/main" val="376645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7CD441-E04A-4654-DC95-5DA68359518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5AB55EC-A05F-0BBE-65CB-7C9B9C6FC1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CB1280-84F4-8433-393D-AAFDD3999761}"/>
              </a:ext>
            </a:extLst>
          </p:cNvPr>
          <p:cNvSpPr>
            <a:spLocks noGrp="1"/>
          </p:cNvSpPr>
          <p:nvPr>
            <p:ph type="dt" sz="half" idx="10"/>
          </p:nvPr>
        </p:nvSpPr>
        <p:spPr/>
        <p:txBody>
          <a:bodyPr/>
          <a:lstStyle/>
          <a:p>
            <a:fld id="{6D2CBB1E-B37A-2940-9500-70F1C21670B4}" type="datetimeFigureOut">
              <a:rPr lang="en-US" smtClean="0"/>
              <a:t>8/17/25</a:t>
            </a:fld>
            <a:endParaRPr lang="en-US"/>
          </a:p>
        </p:txBody>
      </p:sp>
      <p:sp>
        <p:nvSpPr>
          <p:cNvPr id="5" name="Footer Placeholder 4">
            <a:extLst>
              <a:ext uri="{FF2B5EF4-FFF2-40B4-BE49-F238E27FC236}">
                <a16:creationId xmlns:a16="http://schemas.microsoft.com/office/drawing/2014/main" id="{F813D1E2-7B3B-29F3-B0C6-4E059FF58B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D738CA-A09E-93DB-F84F-3896E775136B}"/>
              </a:ext>
            </a:extLst>
          </p:cNvPr>
          <p:cNvSpPr>
            <a:spLocks noGrp="1"/>
          </p:cNvSpPr>
          <p:nvPr>
            <p:ph type="sldNum" sz="quarter" idx="12"/>
          </p:nvPr>
        </p:nvSpPr>
        <p:spPr/>
        <p:txBody>
          <a:bodyPr/>
          <a:lstStyle/>
          <a:p>
            <a:fld id="{E2A30CBF-B97A-BE4E-B7A1-EFBD787A3B69}" type="slidenum">
              <a:rPr lang="en-US" smtClean="0"/>
              <a:t>‹#›</a:t>
            </a:fld>
            <a:endParaRPr lang="en-US"/>
          </a:p>
        </p:txBody>
      </p:sp>
    </p:spTree>
    <p:extLst>
      <p:ext uri="{BB962C8B-B14F-4D97-AF65-F5344CB8AC3E}">
        <p14:creationId xmlns:p14="http://schemas.microsoft.com/office/powerpoint/2010/main" val="19264305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1828800"/>
            <a:ext cx="10363200" cy="900546"/>
          </a:xfrm>
        </p:spPr>
        <p:txBody>
          <a:bodyPr anchor="b" anchorCtr="0"/>
          <a:lstStyle>
            <a:lvl1pPr algn="l">
              <a:defRPr/>
            </a:lvl1pPr>
          </a:lstStyle>
          <a:p>
            <a:r>
              <a:rPr lang="en-US" dirty="0"/>
              <a:t>Click To Edit Title</a:t>
            </a:r>
          </a:p>
        </p:txBody>
      </p:sp>
      <p:cxnSp>
        <p:nvCxnSpPr>
          <p:cNvPr id="8" name="Straight Connector 7"/>
          <p:cNvCxnSpPr/>
          <p:nvPr userDrawn="1"/>
        </p:nvCxnSpPr>
        <p:spPr>
          <a:xfrm>
            <a:off x="914400" y="2819400"/>
            <a:ext cx="103632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ubtitle 2"/>
          <p:cNvSpPr>
            <a:spLocks noGrp="1"/>
          </p:cNvSpPr>
          <p:nvPr>
            <p:ph type="subTitle" idx="1" hasCustomPrompt="1"/>
          </p:nvPr>
        </p:nvSpPr>
        <p:spPr>
          <a:xfrm>
            <a:off x="914400" y="2895600"/>
            <a:ext cx="10363200" cy="1752600"/>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Subtitle</a:t>
            </a:r>
          </a:p>
        </p:txBody>
      </p:sp>
      <p:pic>
        <p:nvPicPr>
          <p:cNvPr id="11" name="Picture 10" descr="C:\Users\njones\Dropbox (2U)\Work\Designing Slides\SMU\Design Brief\logo\logo_datasci_SMU.png">
            <a:extLst>
              <a:ext uri="{FF2B5EF4-FFF2-40B4-BE49-F238E27FC236}">
                <a16:creationId xmlns:a16="http://schemas.microsoft.com/office/drawing/2014/main" id="{6C9BC461-74A3-3B43-A311-BC67E0EEF880}"/>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06402" y="6386563"/>
            <a:ext cx="2348007" cy="2072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83417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cxnSp>
        <p:nvCxnSpPr>
          <p:cNvPr id="8" name="Straight Connector 7"/>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209761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4406903"/>
            <a:ext cx="10363200" cy="1362075"/>
          </a:xfrm>
        </p:spPr>
        <p:txBody>
          <a:bodyPr anchor="t"/>
          <a:lstStyle>
            <a:lvl1pPr algn="l">
              <a:defRPr sz="4000" b="0" cap="none"/>
            </a:lvl1pPr>
          </a:lstStyle>
          <a:p>
            <a:r>
              <a:rPr lang="en-US" dirty="0"/>
              <a:t>Click To Edit Master Title Style</a:t>
            </a:r>
          </a:p>
        </p:txBody>
      </p:sp>
      <p:sp>
        <p:nvSpPr>
          <p:cNvPr id="3" name="Text Placeholder 2"/>
          <p:cNvSpPr>
            <a:spLocks noGrp="1"/>
          </p:cNvSpPr>
          <p:nvPr>
            <p:ph type="body" idx="1" hasCustomPrompt="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cxnSp>
        <p:nvCxnSpPr>
          <p:cNvPr id="7" name="Straight Connector 6"/>
          <p:cNvCxnSpPr/>
          <p:nvPr userDrawn="1"/>
        </p:nvCxnSpPr>
        <p:spPr>
          <a:xfrm>
            <a:off x="963084" y="4406900"/>
            <a:ext cx="103632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41104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3200"/>
            </a:lvl1pPr>
            <a:lvl2pPr>
              <a:defRPr sz="2800"/>
            </a:lvl2pPr>
            <a:lvl3pPr>
              <a:defRPr sz="2400"/>
            </a:lvl3pPr>
            <a:lvl4pPr>
              <a:defRPr sz="20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600203"/>
            <a:ext cx="5384800" cy="4525963"/>
          </a:xfrm>
        </p:spPr>
        <p:txBody>
          <a:bodyPr/>
          <a:lstStyle>
            <a:lvl1pPr>
              <a:defRPr sz="3200"/>
            </a:lvl1pPr>
            <a:lvl2pPr>
              <a:defRPr sz="2800"/>
            </a:lvl2pPr>
            <a:lvl3pPr>
              <a:defRPr sz="2400"/>
            </a:lvl3pPr>
            <a:lvl4pPr>
              <a:defRPr sz="20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56527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609600" y="1417638"/>
            <a:ext cx="5386917" cy="90646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09600" y="2590800"/>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93369" y="1417638"/>
            <a:ext cx="5389033" cy="90646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22644" y="2590800"/>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93409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Tree>
    <p:extLst>
      <p:ext uri="{BB962C8B-B14F-4D97-AF65-F5344CB8AC3E}">
        <p14:creationId xmlns:p14="http://schemas.microsoft.com/office/powerpoint/2010/main" val="25903866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with Horizontal Ru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cxnSp>
        <p:nvCxnSpPr>
          <p:cNvPr id="3" name="Straight Connector 2"/>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27855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92054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End Slide">
    <p:spTree>
      <p:nvGrpSpPr>
        <p:cNvPr id="1" name=""/>
        <p:cNvGrpSpPr/>
        <p:nvPr/>
      </p:nvGrpSpPr>
      <p:grpSpPr>
        <a:xfrm>
          <a:off x="0" y="0"/>
          <a:ext cx="0" cy="0"/>
          <a:chOff x="0" y="0"/>
          <a:chExt cx="0" cy="0"/>
        </a:xfrm>
      </p:grpSpPr>
      <p:pic>
        <p:nvPicPr>
          <p:cNvPr id="4" name="Picture 3" descr="C:\Users\njones\Dropbox (2U)\Work\Designing Slides\SMU\Design Brief\logo\logo_datasci_SMU.png">
            <a:extLst>
              <a:ext uri="{FF2B5EF4-FFF2-40B4-BE49-F238E27FC236}">
                <a16:creationId xmlns:a16="http://schemas.microsoft.com/office/drawing/2014/main" id="{A756B8E1-2372-7141-AD48-1954EB22C32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209800" y="2778677"/>
            <a:ext cx="7772399" cy="6860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2067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6AE13D-F8DB-1C8D-713F-5B34992E44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457625C-DE66-A7E1-11CE-4D162BBCFB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195B4F-8321-D3BC-F185-EAA87CD84E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D2CBB1E-B37A-2940-9500-70F1C21670B4}" type="datetimeFigureOut">
              <a:rPr lang="en-US" smtClean="0"/>
              <a:t>8/17/25</a:t>
            </a:fld>
            <a:endParaRPr lang="en-US"/>
          </a:p>
        </p:txBody>
      </p:sp>
      <p:sp>
        <p:nvSpPr>
          <p:cNvPr id="5" name="Footer Placeholder 4">
            <a:extLst>
              <a:ext uri="{FF2B5EF4-FFF2-40B4-BE49-F238E27FC236}">
                <a16:creationId xmlns:a16="http://schemas.microsoft.com/office/drawing/2014/main" id="{19D412A4-B92B-EED6-E299-7755C5939E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CED4F77-9BC7-3F7D-B36A-E2B8C9E64C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2A30CBF-B97A-BE4E-B7A1-EFBD787A3B69}" type="slidenum">
              <a:rPr lang="en-US" smtClean="0"/>
              <a:t>‹#›</a:t>
            </a:fld>
            <a:endParaRPr lang="en-US"/>
          </a:p>
        </p:txBody>
      </p:sp>
    </p:spTree>
    <p:extLst>
      <p:ext uri="{BB962C8B-B14F-4D97-AF65-F5344CB8AC3E}">
        <p14:creationId xmlns:p14="http://schemas.microsoft.com/office/powerpoint/2010/main" val="41320591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ltGray">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28600"/>
            <a:ext cx="10972800" cy="114300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Rectangle 11"/>
          <p:cNvSpPr/>
          <p:nvPr userDrawn="1"/>
        </p:nvSpPr>
        <p:spPr>
          <a:xfrm>
            <a:off x="0" y="6779932"/>
            <a:ext cx="12192000" cy="91440"/>
          </a:xfrm>
          <a:prstGeom prst="rect">
            <a:avLst/>
          </a:prstGeom>
          <a:solidFill>
            <a:srgbClr val="35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4" name="Rectangle 13"/>
          <p:cNvSpPr/>
          <p:nvPr userDrawn="1"/>
        </p:nvSpPr>
        <p:spPr>
          <a:xfrm>
            <a:off x="0" y="0"/>
            <a:ext cx="12192000" cy="304800"/>
          </a:xfrm>
          <a:prstGeom prst="rect">
            <a:avLst/>
          </a:prstGeom>
          <a:solidFill>
            <a:srgbClr val="35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Tree>
    <p:extLst>
      <p:ext uri="{BB962C8B-B14F-4D97-AF65-F5344CB8AC3E}">
        <p14:creationId xmlns:p14="http://schemas.microsoft.com/office/powerpoint/2010/main" val="18859472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txStyles>
    <p:titleStyle>
      <a:lvl1pPr algn="ctr" defTabSz="914400" rtl="0" eaLnBrk="1" latinLnBrk="0" hangingPunct="1">
        <a:spcBef>
          <a:spcPct val="0"/>
        </a:spcBef>
        <a:buNone/>
        <a:defRPr sz="4400" b="0" i="0" u="none" kern="1200">
          <a:solidFill>
            <a:schemeClr val="tx1"/>
          </a:solidFill>
          <a:latin typeface="+mj-lt"/>
          <a:ea typeface="+mj-ea"/>
          <a:cs typeface="+mj-cs"/>
        </a:defRPr>
      </a:lvl1pPr>
    </p:titleStyle>
    <p:bodyStyle>
      <a:lvl1pPr marL="342900" indent="-342900" algn="l" defTabSz="914400" rtl="0" eaLnBrk="1" latinLnBrk="0" hangingPunct="1">
        <a:spcBef>
          <a:spcPts val="600"/>
        </a:spcBef>
        <a:buFont typeface="Arial" charset="0"/>
        <a:buChar char="•"/>
        <a:defRPr sz="3200" kern="1200">
          <a:solidFill>
            <a:schemeClr val="tx1"/>
          </a:solidFill>
          <a:latin typeface="+mn-lt"/>
          <a:ea typeface="+mn-ea"/>
          <a:cs typeface="+mn-cs"/>
        </a:defRPr>
      </a:lvl1pPr>
      <a:lvl2pPr marL="742950" indent="-285750" algn="l" defTabSz="914400" rtl="0" eaLnBrk="1" latinLnBrk="0" hangingPunct="1">
        <a:spcBef>
          <a:spcPts val="600"/>
        </a:spcBef>
        <a:buFont typeface="Arial" charset="0"/>
        <a:buChar char="•"/>
        <a:defRPr sz="2800" b="0" i="0" u="none" kern="1200">
          <a:solidFill>
            <a:schemeClr val="tx1"/>
          </a:solidFill>
          <a:latin typeface="+mn-lt"/>
          <a:ea typeface="+mn-ea"/>
          <a:cs typeface="+mn-cs"/>
        </a:defRPr>
      </a:lvl2pPr>
      <a:lvl3pPr marL="1143000" indent="-228600" algn="l" defTabSz="914400" rtl="0" eaLnBrk="1" latinLnBrk="0" hangingPunct="1">
        <a:spcBef>
          <a:spcPts val="600"/>
        </a:spcBef>
        <a:buFont typeface="Arial" charset="0"/>
        <a:buChar char="•"/>
        <a:defRPr sz="2400" kern="1200">
          <a:solidFill>
            <a:schemeClr val="tx1"/>
          </a:solidFill>
          <a:latin typeface="+mn-lt"/>
          <a:ea typeface="+mn-ea"/>
          <a:cs typeface="+mn-cs"/>
        </a:defRPr>
      </a:lvl3pPr>
      <a:lvl4pPr marL="1600200" indent="-228600" algn="l" defTabSz="914400" rtl="0" eaLnBrk="1" latinLnBrk="0" hangingPunct="1">
        <a:spcBef>
          <a:spcPts val="600"/>
        </a:spcBef>
        <a:buFont typeface="Arial"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0.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25.png"/><Relationship Id="rId5" Type="http://schemas.openxmlformats.org/officeDocument/2006/relationships/image" Target="../media/image5.png"/><Relationship Id="rId4" Type="http://schemas.openxmlformats.org/officeDocument/2006/relationships/image" Target="../media/image3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6.jpeg"/><Relationship Id="rId1" Type="http://schemas.openxmlformats.org/officeDocument/2006/relationships/slideLayout" Target="../slideLayouts/slideLayout13.xml"/><Relationship Id="rId5" Type="http://schemas.openxmlformats.org/officeDocument/2006/relationships/image" Target="../media/image28.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0.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27797-C506-02BC-0BF2-67869A23937C}"/>
              </a:ext>
            </a:extLst>
          </p:cNvPr>
          <p:cNvSpPr>
            <a:spLocks noGrp="1"/>
          </p:cNvSpPr>
          <p:nvPr>
            <p:ph type="ctrTitle"/>
          </p:nvPr>
        </p:nvSpPr>
        <p:spPr/>
        <p:txBody>
          <a:bodyPr/>
          <a:lstStyle/>
          <a:p>
            <a:r>
              <a:rPr lang="en-US" dirty="0"/>
              <a:t>DSC 80 Discussion #2</a:t>
            </a:r>
          </a:p>
        </p:txBody>
      </p:sp>
      <p:sp>
        <p:nvSpPr>
          <p:cNvPr id="3" name="Subtitle 2">
            <a:extLst>
              <a:ext uri="{FF2B5EF4-FFF2-40B4-BE49-F238E27FC236}">
                <a16:creationId xmlns:a16="http://schemas.microsoft.com/office/drawing/2014/main" id="{30B76C06-3520-6E6A-5C05-B82F5399BBF3}"/>
              </a:ext>
            </a:extLst>
          </p:cNvPr>
          <p:cNvSpPr>
            <a:spLocks noGrp="1"/>
          </p:cNvSpPr>
          <p:nvPr>
            <p:ph type="subTitle" idx="1"/>
          </p:nvPr>
        </p:nvSpPr>
        <p:spPr/>
        <p:txBody>
          <a:bodyPr/>
          <a:lstStyle/>
          <a:p>
            <a:r>
              <a:rPr lang="en-US" dirty="0"/>
              <a:t>Hypothesis Testing</a:t>
            </a:r>
          </a:p>
          <a:p>
            <a:r>
              <a:rPr lang="en-US" dirty="0"/>
              <a:t>Permutation Tests</a:t>
            </a:r>
          </a:p>
        </p:txBody>
      </p:sp>
    </p:spTree>
    <p:extLst>
      <p:ext uri="{BB962C8B-B14F-4D97-AF65-F5344CB8AC3E}">
        <p14:creationId xmlns:p14="http://schemas.microsoft.com/office/powerpoint/2010/main" val="605201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1760C-9778-D44A-F893-2ADEBC114A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8B6F34-CF96-1302-E4F8-C801F6ED6B37}"/>
              </a:ext>
            </a:extLst>
          </p:cNvPr>
          <p:cNvSpPr>
            <a:spLocks noGrp="1"/>
          </p:cNvSpPr>
          <p:nvPr>
            <p:ph type="title"/>
          </p:nvPr>
        </p:nvSpPr>
        <p:spPr/>
        <p:txBody>
          <a:bodyPr/>
          <a:lstStyle/>
          <a:p>
            <a:r>
              <a:rPr lang="en-US" dirty="0"/>
              <a:t>THE LOTTERY! </a:t>
            </a:r>
          </a:p>
        </p:txBody>
      </p:sp>
      <p:sp>
        <p:nvSpPr>
          <p:cNvPr id="6" name="TextBox 5">
            <a:extLst>
              <a:ext uri="{FF2B5EF4-FFF2-40B4-BE49-F238E27FC236}">
                <a16:creationId xmlns:a16="http://schemas.microsoft.com/office/drawing/2014/main" id="{DFA15F8A-F540-EE14-FD52-F7D687ECD9C9}"/>
              </a:ext>
            </a:extLst>
          </p:cNvPr>
          <p:cNvSpPr txBox="1"/>
          <p:nvPr/>
        </p:nvSpPr>
        <p:spPr>
          <a:xfrm>
            <a:off x="302046" y="1676400"/>
            <a:ext cx="11587908" cy="535531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Assumption: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Bivin is playing</a:t>
            </a:r>
            <a:r>
              <a:rPr kumimoji="0" lang="en-US" sz="1800" b="0" i="0" u="none" strike="noStrike" kern="1200" cap="none" spc="0" normalizeH="0" noProof="0" dirty="0">
                <a:ln>
                  <a:noFill/>
                </a:ln>
                <a:solidFill>
                  <a:srgbClr val="000000"/>
                </a:solidFill>
                <a:effectLst/>
                <a:uLnTx/>
                <a:uFillTx/>
                <a:latin typeface="Arial"/>
                <a:ea typeface="+mn-ea"/>
                <a:cs typeface="+mn-cs"/>
              </a:rPr>
              <a:t> fair.</a:t>
            </a: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Evidence: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latin typeface="Arial"/>
              </a:rPr>
              <a:t>Bivin won the lottery 10 times … in a row! </a:t>
            </a: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Probability: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latin typeface="Arial"/>
              </a:rPr>
              <a:t>The probably is very very very very very …. Very very small that I would win the lotter 10 times in a row.</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dirty="0">
              <a:ln>
                <a:noFill/>
              </a:ln>
              <a:solidFill>
                <a:srgbClr val="000000"/>
              </a:solidFill>
              <a:effectLst/>
              <a:uLnTx/>
              <a:uFillTx/>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latin typeface="Arial"/>
              </a:rPr>
              <a:t>IF</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i="0" u="none" strike="noStrike" kern="1200" cap="none" spc="0" normalizeH="0" baseline="0" noProof="0" dirty="0">
              <a:ln>
                <a:noFill/>
              </a:ln>
              <a:solidFill>
                <a:srgbClr val="000000"/>
              </a:solidFill>
              <a:effectLst/>
              <a:uLnTx/>
              <a:uFillTx/>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latin typeface="Arial"/>
              </a:rPr>
              <a:t>I am playing fair.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noProof="0" dirty="0">
                <a:solidFill>
                  <a:srgbClr val="000000"/>
                </a:solidFill>
                <a:latin typeface="Arial"/>
              </a:rPr>
              <a:t>Decision: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solidFill>
                  <a:srgbClr val="000000"/>
                </a:solidFill>
                <a:latin typeface="Arial"/>
              </a:rPr>
              <a:t>Reject Ho: Bivin is playing fair.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noProof="0" dirty="0">
                <a:solidFill>
                  <a:srgbClr val="000000"/>
                </a:solidFill>
                <a:latin typeface="Arial"/>
              </a:rPr>
              <a:t>Conclusion: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solidFill>
                  <a:srgbClr val="000000"/>
                </a:solidFill>
                <a:latin typeface="Arial"/>
              </a:rPr>
              <a:t>There is overwhelming evidence to suggest that Bivin is not playing fair. </a:t>
            </a:r>
            <a:endParaRPr kumimoji="0" lang="en-US" sz="1800" i="0" u="none" strike="noStrike" kern="1200" cap="none" spc="0" normalizeH="0" baseline="0" noProof="0" dirty="0">
              <a:ln>
                <a:noFill/>
              </a:ln>
              <a:solidFill>
                <a:srgbClr val="000000"/>
              </a:solidFill>
              <a:effectLst/>
              <a:uLnTx/>
              <a:uFillTx/>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5ED93FD5-9C0A-CD5C-53E9-9A91F78F8820}"/>
                  </a:ext>
                </a:extLst>
              </p:cNvPr>
              <p:cNvSpPr txBox="1"/>
              <p:nvPr/>
            </p:nvSpPr>
            <p:spPr>
              <a:xfrm>
                <a:off x="7543800" y="1524000"/>
                <a:ext cx="195320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𝐻</m:t>
                          </m:r>
                        </m:e>
                        <m:sub>
                          <m:r>
                            <a:rPr kumimoji="0" lang="en-US" sz="1800" b="0" i="1" u="none" strike="noStrike" kern="1200" cap="none" spc="0" normalizeH="0" baseline="0" noProof="0">
                              <a:ln>
                                <a:noFill/>
                              </a:ln>
                              <a:solidFill>
                                <a:srgbClr val="000000"/>
                              </a:solidFill>
                              <a:effectLst/>
                              <a:uLnTx/>
                              <a:uFillTx/>
                              <a:latin typeface="Cambria Math" charset="0"/>
                              <a:ea typeface="+mn-ea"/>
                              <a:cs typeface="+mn-cs"/>
                            </a:rPr>
                            <m:t>0: </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𝐵𝑖𝑣𝑖𝑛</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𝑃𝑙𝑎𝑦𝑖𝑛𝑔</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𝐹𝑎𝑖𝑟</m:t>
                      </m:r>
                    </m:oMath>
                  </m:oMathPara>
                </a14:m>
                <a:endParaRPr kumimoji="0" lang="en-US" sz="1800" b="0" i="0" u="none" strike="noStrike" kern="1200" cap="none" spc="0" normalizeH="0" baseline="0" noProof="0" dirty="0">
                  <a:ln>
                    <a:noFill/>
                  </a:ln>
                  <a:solidFill>
                    <a:srgbClr val="000000"/>
                  </a:solidFill>
                  <a:effectLst/>
                  <a:uLnTx/>
                  <a:uFillTx/>
                  <a:latin typeface="Arial"/>
                  <a:ea typeface="Cambria Math" charset="0"/>
                  <a:cs typeface="Cambria Math"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𝐻</m:t>
                          </m:r>
                        </m:e>
                        <m:sub>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𝐴</m:t>
                          </m:r>
                          <m:r>
                            <a:rPr kumimoji="0" lang="en-US" sz="1800" b="0" i="1" u="none" strike="noStrike" kern="1200" cap="none" spc="0" normalizeH="0" baseline="0" noProof="0">
                              <a:ln>
                                <a:noFill/>
                              </a:ln>
                              <a:solidFill>
                                <a:srgbClr val="000000"/>
                              </a:solidFill>
                              <a:effectLst/>
                              <a:uLnTx/>
                              <a:uFillTx/>
                              <a:latin typeface="Cambria Math" charset="0"/>
                              <a:ea typeface="+mn-ea"/>
                              <a:cs typeface="+mn-cs"/>
                            </a:rPr>
                            <m:t>: </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𝐵𝑖𝑣𝑖𝑛</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𝑁𝑜𝑡</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𝑃𝑙𝑎𝑦𝑖𝑛𝑔</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𝐹𝑎𝑖𝑟</m:t>
                      </m:r>
                    </m:oMath>
                  </m:oMathPara>
                </a14:m>
                <a:endParaRPr kumimoji="0" lang="en-US" sz="1800" b="0" i="0" u="none" strike="noStrike" kern="1200" cap="none" spc="0" normalizeH="0" baseline="0" noProof="0" dirty="0">
                  <a:ln>
                    <a:noFill/>
                  </a:ln>
                  <a:solidFill>
                    <a:srgbClr val="000000"/>
                  </a:solidFill>
                  <a:effectLst/>
                  <a:uLnTx/>
                  <a:uFillTx/>
                  <a:latin typeface="Arial"/>
                  <a:ea typeface="Cambria Math" charset="0"/>
                  <a:cs typeface="Cambria Math" charset="0"/>
                </a:endParaRPr>
              </a:p>
            </p:txBody>
          </p:sp>
        </mc:Choice>
        <mc:Fallback>
          <p:sp>
            <p:nvSpPr>
              <p:cNvPr id="19" name="TextBox 18">
                <a:extLst>
                  <a:ext uri="{FF2B5EF4-FFF2-40B4-BE49-F238E27FC236}">
                    <a16:creationId xmlns:a16="http://schemas.microsoft.com/office/drawing/2014/main" id="{5ED93FD5-9C0A-CD5C-53E9-9A91F78F8820}"/>
                  </a:ext>
                </a:extLst>
              </p:cNvPr>
              <p:cNvSpPr txBox="1">
                <a:spLocks noRot="1" noChangeAspect="1" noMove="1" noResize="1" noEditPoints="1" noAdjustHandles="1" noChangeArrowheads="1" noChangeShapeType="1" noTextEdit="1"/>
              </p:cNvSpPr>
              <p:nvPr/>
            </p:nvSpPr>
            <p:spPr>
              <a:xfrm>
                <a:off x="7543800" y="1524000"/>
                <a:ext cx="1953202" cy="646331"/>
              </a:xfrm>
              <a:prstGeom prst="rect">
                <a:avLst/>
              </a:prstGeom>
              <a:blipFill>
                <a:blip r:embed="rId2"/>
                <a:stretch>
                  <a:fillRect r="-47403" b="-9804"/>
                </a:stretch>
              </a:blipFill>
            </p:spPr>
            <p:txBody>
              <a:bodyPr/>
              <a:lstStyle/>
              <a:p>
                <a:r>
                  <a:rPr lang="en-US">
                    <a:noFill/>
                  </a:rPr>
                  <a:t> </a:t>
                </a:r>
              </a:p>
            </p:txBody>
          </p:sp>
        </mc:Fallback>
      </mc:AlternateContent>
    </p:spTree>
    <p:extLst>
      <p:ext uri="{BB962C8B-B14F-4D97-AF65-F5344CB8AC3E}">
        <p14:creationId xmlns:p14="http://schemas.microsoft.com/office/powerpoint/2010/main" val="2210996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500"/>
                                        <p:tgtEl>
                                          <p:spTgt spid="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
                                            <p:txEl>
                                              <p:pRg st="3" end="3"/>
                                            </p:txEl>
                                          </p:spTgt>
                                        </p:tgtEl>
                                        <p:attrNameLst>
                                          <p:attrName>style.visibility</p:attrName>
                                        </p:attrNameLst>
                                      </p:cBhvr>
                                      <p:to>
                                        <p:strVal val="visible"/>
                                      </p:to>
                                    </p:set>
                                    <p:animEffect transition="in" filter="fade">
                                      <p:cBhvr>
                                        <p:cTn id="20" dur="500"/>
                                        <p:tgtEl>
                                          <p:spTgt spid="6">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fade">
                                      <p:cBhvr>
                                        <p:cTn id="23" dur="500"/>
                                        <p:tgtEl>
                                          <p:spTgt spid="6">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6">
                                            <p:txEl>
                                              <p:pRg st="6" end="6"/>
                                            </p:txEl>
                                          </p:spTgt>
                                        </p:tgtEl>
                                        <p:attrNameLst>
                                          <p:attrName>style.visibility</p:attrName>
                                        </p:attrNameLst>
                                      </p:cBhvr>
                                      <p:to>
                                        <p:strVal val="visible"/>
                                      </p:to>
                                    </p:set>
                                    <p:animEffect transition="in" filter="fade">
                                      <p:cBhvr>
                                        <p:cTn id="28" dur="500"/>
                                        <p:tgtEl>
                                          <p:spTgt spid="6">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6">
                                            <p:txEl>
                                              <p:pRg st="7" end="7"/>
                                            </p:txEl>
                                          </p:spTgt>
                                        </p:tgtEl>
                                        <p:attrNameLst>
                                          <p:attrName>style.visibility</p:attrName>
                                        </p:attrNameLst>
                                      </p:cBhvr>
                                      <p:to>
                                        <p:strVal val="visible"/>
                                      </p:to>
                                    </p:set>
                                    <p:animEffect transition="in" filter="fade">
                                      <p:cBhvr>
                                        <p:cTn id="33" dur="500"/>
                                        <p:tgtEl>
                                          <p:spTgt spid="6">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6">
                                            <p:txEl>
                                              <p:pRg st="9" end="9"/>
                                            </p:txEl>
                                          </p:spTgt>
                                        </p:tgtEl>
                                        <p:attrNameLst>
                                          <p:attrName>style.visibility</p:attrName>
                                        </p:attrNameLst>
                                      </p:cBhvr>
                                      <p:to>
                                        <p:strVal val="visible"/>
                                      </p:to>
                                    </p:set>
                                    <p:animEffect transition="in" filter="fade">
                                      <p:cBhvr>
                                        <p:cTn id="38" dur="500"/>
                                        <p:tgtEl>
                                          <p:spTgt spid="6">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6">
                                            <p:txEl>
                                              <p:pRg st="11" end="11"/>
                                            </p:txEl>
                                          </p:spTgt>
                                        </p:tgtEl>
                                        <p:attrNameLst>
                                          <p:attrName>style.visibility</p:attrName>
                                        </p:attrNameLst>
                                      </p:cBhvr>
                                      <p:to>
                                        <p:strVal val="visible"/>
                                      </p:to>
                                    </p:set>
                                    <p:animEffect transition="in" filter="fade">
                                      <p:cBhvr>
                                        <p:cTn id="43" dur="500"/>
                                        <p:tgtEl>
                                          <p:spTgt spid="6">
                                            <p:txEl>
                                              <p:pRg st="11" end="1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6">
                                            <p:txEl>
                                              <p:pRg st="13" end="13"/>
                                            </p:txEl>
                                          </p:spTgt>
                                        </p:tgtEl>
                                        <p:attrNameLst>
                                          <p:attrName>style.visibility</p:attrName>
                                        </p:attrNameLst>
                                      </p:cBhvr>
                                      <p:to>
                                        <p:strVal val="visible"/>
                                      </p:to>
                                    </p:set>
                                    <p:animEffect transition="in" filter="fade">
                                      <p:cBhvr>
                                        <p:cTn id="48" dur="500"/>
                                        <p:tgtEl>
                                          <p:spTgt spid="6">
                                            <p:txEl>
                                              <p:pRg st="13" end="13"/>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6">
                                            <p:txEl>
                                              <p:pRg st="14" end="14"/>
                                            </p:txEl>
                                          </p:spTgt>
                                        </p:tgtEl>
                                        <p:attrNameLst>
                                          <p:attrName>style.visibility</p:attrName>
                                        </p:attrNameLst>
                                      </p:cBhvr>
                                      <p:to>
                                        <p:strVal val="visible"/>
                                      </p:to>
                                    </p:set>
                                    <p:animEffect transition="in" filter="fade">
                                      <p:cBhvr>
                                        <p:cTn id="53" dur="500"/>
                                        <p:tgtEl>
                                          <p:spTgt spid="6">
                                            <p:txEl>
                                              <p:pRg st="14" end="14"/>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6">
                                            <p:txEl>
                                              <p:pRg st="16" end="16"/>
                                            </p:txEl>
                                          </p:spTgt>
                                        </p:tgtEl>
                                        <p:attrNameLst>
                                          <p:attrName>style.visibility</p:attrName>
                                        </p:attrNameLst>
                                      </p:cBhvr>
                                      <p:to>
                                        <p:strVal val="visible"/>
                                      </p:to>
                                    </p:set>
                                    <p:animEffect transition="in" filter="fade">
                                      <p:cBhvr>
                                        <p:cTn id="58" dur="500"/>
                                        <p:tgtEl>
                                          <p:spTgt spid="6">
                                            <p:txEl>
                                              <p:pRg st="16" end="16"/>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6">
                                            <p:txEl>
                                              <p:pRg st="17" end="17"/>
                                            </p:txEl>
                                          </p:spTgt>
                                        </p:tgtEl>
                                        <p:attrNameLst>
                                          <p:attrName>style.visibility</p:attrName>
                                        </p:attrNameLst>
                                      </p:cBhvr>
                                      <p:to>
                                        <p:strVal val="visible"/>
                                      </p:to>
                                    </p:set>
                                    <p:animEffect transition="in" filter="fade">
                                      <p:cBhvr>
                                        <p:cTn id="63" dur="500"/>
                                        <p:tgtEl>
                                          <p:spTgt spid="6">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8D904-90F3-4493-CDEA-017C9823A7A4}"/>
              </a:ext>
            </a:extLst>
          </p:cNvPr>
          <p:cNvSpPr>
            <a:spLocks noGrp="1"/>
          </p:cNvSpPr>
          <p:nvPr>
            <p:ph type="title"/>
          </p:nvPr>
        </p:nvSpPr>
        <p:spPr/>
        <p:txBody>
          <a:bodyPr/>
          <a:lstStyle/>
          <a:p>
            <a:r>
              <a:rPr lang="en-US" dirty="0"/>
              <a:t>Break Out!</a:t>
            </a:r>
          </a:p>
        </p:txBody>
      </p:sp>
      <p:sp>
        <p:nvSpPr>
          <p:cNvPr id="3" name="Content Placeholder 2">
            <a:extLst>
              <a:ext uri="{FF2B5EF4-FFF2-40B4-BE49-F238E27FC236}">
                <a16:creationId xmlns:a16="http://schemas.microsoft.com/office/drawing/2014/main" id="{5AF01E9B-518F-07BB-5F0A-F5194F0CCD1A}"/>
              </a:ext>
            </a:extLst>
          </p:cNvPr>
          <p:cNvSpPr>
            <a:spLocks noGrp="1"/>
          </p:cNvSpPr>
          <p:nvPr>
            <p:ph idx="1"/>
          </p:nvPr>
        </p:nvSpPr>
        <p:spPr/>
        <p:txBody>
          <a:bodyPr/>
          <a:lstStyle/>
          <a:p>
            <a:pPr marL="0" indent="0">
              <a:buNone/>
            </a:pPr>
            <a:r>
              <a:rPr lang="en-US" dirty="0"/>
              <a:t>Conduct a Permutation test to test if the mean creativity score of those offered intrinsic motivation is different from that of those offered extrinsic motivation.</a:t>
            </a:r>
          </a:p>
          <a:p>
            <a:pPr marL="0" indent="0">
              <a:buNone/>
            </a:pPr>
            <a:endParaRPr lang="en-US" dirty="0"/>
          </a:p>
          <a:p>
            <a:pPr marL="0" indent="0">
              <a:buNone/>
            </a:pPr>
            <a:r>
              <a:rPr lang="en-US" dirty="0"/>
              <a:t>Be thorough in your analysis and conclusion. </a:t>
            </a:r>
            <a:r>
              <a:rPr lang="en-US" dirty="0">
                <a:sym typeface="Wingdings" pitchFamily="2" charset="2"/>
              </a:rPr>
              <a:t> </a:t>
            </a:r>
            <a:endParaRPr lang="en-US" dirty="0"/>
          </a:p>
        </p:txBody>
      </p:sp>
    </p:spTree>
    <p:extLst>
      <p:ext uri="{BB962C8B-B14F-4D97-AF65-F5344CB8AC3E}">
        <p14:creationId xmlns:p14="http://schemas.microsoft.com/office/powerpoint/2010/main" val="1157541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FDCF9-FD9C-2F00-5C70-5CA3265D1F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068DD2-BA61-627F-45DF-9D07DDADBA3B}"/>
              </a:ext>
            </a:extLst>
          </p:cNvPr>
          <p:cNvSpPr>
            <a:spLocks noGrp="1"/>
          </p:cNvSpPr>
          <p:nvPr>
            <p:ph type="title"/>
          </p:nvPr>
        </p:nvSpPr>
        <p:spPr/>
        <p:txBody>
          <a:bodyPr/>
          <a:lstStyle/>
          <a:p>
            <a:r>
              <a:rPr lang="en-US" dirty="0"/>
              <a:t>Creativity Study</a:t>
            </a:r>
          </a:p>
        </p:txBody>
      </p:sp>
      <p:sp>
        <p:nvSpPr>
          <p:cNvPr id="6" name="TextBox 5">
            <a:extLst>
              <a:ext uri="{FF2B5EF4-FFF2-40B4-BE49-F238E27FC236}">
                <a16:creationId xmlns:a16="http://schemas.microsoft.com/office/drawing/2014/main" id="{2DD04AEE-0905-0596-B80A-929AC527B3AF}"/>
              </a:ext>
            </a:extLst>
          </p:cNvPr>
          <p:cNvSpPr txBox="1"/>
          <p:nvPr/>
        </p:nvSpPr>
        <p:spPr>
          <a:xfrm>
            <a:off x="302046" y="1676400"/>
            <a:ext cx="11587908" cy="286232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Assumption: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The intrinsic / extrinsic treatment has no effect on creativity.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(The mean creativity score of the intrinsic group is equal to the mean score of the extrinsic group.)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Evidence: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The difference in the mean from the sample that received the intrinsic motivation was 4.14 points higher than the mean from the sample that received the extrinsic motivation.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Probability: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FCCBE26-DEBB-15F7-7553-F2AE6444A542}"/>
                  </a:ext>
                </a:extLst>
              </p:cNvPr>
              <p:cNvSpPr txBox="1"/>
              <p:nvPr/>
            </p:nvSpPr>
            <p:spPr>
              <a:xfrm>
                <a:off x="7543800" y="1524000"/>
                <a:ext cx="195320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𝐻</m:t>
                        </m:r>
                      </m:e>
                      <m:sub>
                        <m:r>
                          <a:rPr kumimoji="0" lang="en-US" sz="1800" b="0" i="1" u="none" strike="noStrike" kern="1200" cap="none" spc="0" normalizeH="0" baseline="0" noProof="0">
                            <a:ln>
                              <a:noFill/>
                            </a:ln>
                            <a:solidFill>
                              <a:srgbClr val="000000"/>
                            </a:solidFill>
                            <a:effectLst/>
                            <a:uLnTx/>
                            <a:uFillTx/>
                            <a:latin typeface="Cambria Math" charset="0"/>
                            <a:ea typeface="+mn-ea"/>
                            <a:cs typeface="+mn-cs"/>
                          </a:rPr>
                          <m:t>0: </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𝜇</m:t>
                        </m:r>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𝐼</m:t>
                        </m:r>
                      </m:sub>
                    </m:sSub>
                  </m:oMath>
                </a14:m>
                <a:r>
                  <a:rPr kumimoji="0" lang="en-US" sz="1800" b="0" i="0" u="none" strike="noStrike" kern="1200" cap="none" spc="0" normalizeH="0" baseline="0" noProof="0" dirty="0">
                    <a:ln>
                      <a:noFill/>
                    </a:ln>
                    <a:solidFill>
                      <a:srgbClr val="000000"/>
                    </a:solidFill>
                    <a:effectLst/>
                    <a:uLnTx/>
                    <a:uFillTx/>
                    <a:latin typeface="Arial"/>
                    <a:ea typeface="+mn-ea"/>
                    <a:cs typeface="+mn-cs"/>
                  </a:rPr>
                  <a:t> -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𝜇</m:t>
                        </m:r>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𝐸</m:t>
                        </m:r>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 </m:t>
                        </m:r>
                      </m:sub>
                    </m:s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=0</m:t>
                    </m:r>
                  </m:oMath>
                </a14:m>
                <a:endParaRPr kumimoji="0" lang="en-US" sz="1800" b="0" i="0" u="none" strike="noStrike" kern="1200" cap="none" spc="0" normalizeH="0" baseline="0" noProof="0" dirty="0">
                  <a:ln>
                    <a:noFill/>
                  </a:ln>
                  <a:solidFill>
                    <a:srgbClr val="000000"/>
                  </a:solidFill>
                  <a:effectLst/>
                  <a:uLnTx/>
                  <a:uFillTx/>
                  <a:latin typeface="Arial"/>
                  <a:ea typeface="Cambria Math" charset="0"/>
                  <a:cs typeface="Cambria Math"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𝐻</m:t>
                        </m:r>
                      </m:e>
                      <m:sub>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𝐴</m:t>
                        </m:r>
                        <m:r>
                          <a:rPr kumimoji="0" lang="en-US" sz="1800" b="0" i="1" u="none" strike="noStrike" kern="1200" cap="none" spc="0" normalizeH="0" baseline="0" noProof="0">
                            <a:ln>
                              <a:noFill/>
                            </a:ln>
                            <a:solidFill>
                              <a:srgbClr val="000000"/>
                            </a:solidFill>
                            <a:effectLst/>
                            <a:uLnTx/>
                            <a:uFillTx/>
                            <a:latin typeface="Cambria Math" charset="0"/>
                            <a:ea typeface="+mn-ea"/>
                            <a:cs typeface="+mn-cs"/>
                          </a:rPr>
                          <m:t>: </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𝜇</m:t>
                        </m:r>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𝐼</m:t>
                        </m:r>
                      </m:sub>
                    </m:sSub>
                  </m:oMath>
                </a14:m>
                <a:r>
                  <a:rPr kumimoji="0" lang="en-US" sz="1800" b="0" i="0" u="none" strike="noStrike" kern="1200" cap="none" spc="0" normalizeH="0" baseline="0" noProof="0" dirty="0">
                    <a:ln>
                      <a:noFill/>
                    </a:ln>
                    <a:solidFill>
                      <a:srgbClr val="000000"/>
                    </a:solidFill>
                    <a:effectLst/>
                    <a:uLnTx/>
                    <a:uFillTx/>
                    <a:latin typeface="Arial"/>
                    <a:ea typeface="+mn-ea"/>
                    <a:cs typeface="+mn-cs"/>
                  </a:rPr>
                  <a:t> -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𝜇</m:t>
                        </m:r>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𝐸</m:t>
                        </m:r>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 </m:t>
                        </m:r>
                      </m:sub>
                    </m:sSub>
                    <m:r>
                      <a:rPr kumimoji="0" lang="en-US" sz="1800" b="0" i="1" u="none" strike="noStrike" kern="1200" cap="none" spc="0" normalizeH="0" baseline="0" noProof="0" dirty="0">
                        <a:ln>
                          <a:noFill/>
                        </a:ln>
                        <a:solidFill>
                          <a:srgbClr val="000000"/>
                        </a:solidFill>
                        <a:effectLst/>
                        <a:uLnTx/>
                        <a:uFillTx/>
                        <a:latin typeface="Cambria Math" charset="0"/>
                        <a:ea typeface="Cambria Math" charset="0"/>
                        <a:cs typeface="Cambria Math" charset="0"/>
                      </a:rPr>
                      <m:t>≠</m:t>
                    </m:r>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0</m:t>
                    </m:r>
                  </m:oMath>
                </a14:m>
                <a:endParaRPr kumimoji="0" lang="en-US" sz="1800" b="0" i="0" u="none" strike="noStrike" kern="1200" cap="none" spc="0" normalizeH="0" baseline="0" noProof="0" dirty="0">
                  <a:ln>
                    <a:noFill/>
                  </a:ln>
                  <a:solidFill>
                    <a:srgbClr val="000000"/>
                  </a:solidFill>
                  <a:effectLst/>
                  <a:uLnTx/>
                  <a:uFillTx/>
                  <a:latin typeface="Arial"/>
                  <a:ea typeface="Cambria Math" charset="0"/>
                  <a:cs typeface="Cambria Math" charset="0"/>
                </a:endParaRPr>
              </a:p>
            </p:txBody>
          </p:sp>
        </mc:Choice>
        <mc:Fallback xmlns="">
          <p:sp>
            <p:nvSpPr>
              <p:cNvPr id="19" name="TextBox 18">
                <a:extLst>
                  <a:ext uri="{FF2B5EF4-FFF2-40B4-BE49-F238E27FC236}">
                    <a16:creationId xmlns:a16="http://schemas.microsoft.com/office/drawing/2014/main" id="{026CF454-9DBA-9740-BDF0-C9B56DA2976C}"/>
                  </a:ext>
                </a:extLst>
              </p:cNvPr>
              <p:cNvSpPr txBox="1">
                <a:spLocks noRot="1" noChangeAspect="1" noMove="1" noResize="1" noEditPoints="1" noAdjustHandles="1" noChangeArrowheads="1" noChangeShapeType="1" noTextEdit="1"/>
              </p:cNvSpPr>
              <p:nvPr/>
            </p:nvSpPr>
            <p:spPr>
              <a:xfrm>
                <a:off x="7543800" y="1524000"/>
                <a:ext cx="1953202" cy="646331"/>
              </a:xfrm>
              <a:prstGeom prst="rect">
                <a:avLst/>
              </a:prstGeom>
              <a:blipFill>
                <a:blip r:embed="rId2"/>
                <a:stretch>
                  <a:fillRect t="-3922" b="-137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43EA1784-23C0-4916-5ECB-C5EAE1342510}"/>
                  </a:ext>
                </a:extLst>
              </p:cNvPr>
              <p:cNvSpPr/>
              <p:nvPr/>
            </p:nvSpPr>
            <p:spPr>
              <a:xfrm>
                <a:off x="6812818" y="3429000"/>
                <a:ext cx="1782347"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charset="0"/>
                            <a:cs typeface="Cambria Math" charset="0"/>
                          </a:rPr>
                        </m:ctrlPr>
                      </m:sSubPr>
                      <m:e>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charset="0"/>
                                <a:cs typeface="Cambria Math" charset="0"/>
                              </a:rPr>
                            </m:ctrlPr>
                          </m:acc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charset="0"/>
                                <a:cs typeface="Cambria Math" charset="0"/>
                              </a:rPr>
                              <m:t>𝑋</m:t>
                            </m:r>
                          </m:e>
                        </m:acc>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𝐼</m:t>
                        </m:r>
                      </m:sub>
                    </m:s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charset="0"/>
                            <a:cs typeface="Cambria Math" charset="0"/>
                          </a:rPr>
                        </m:ctrlPr>
                      </m:sSubPr>
                      <m:e>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charset="0"/>
                                <a:cs typeface="Cambria Math" charset="0"/>
                              </a:rPr>
                            </m:ctrlPr>
                          </m:acc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charset="0"/>
                                <a:cs typeface="Cambria Math" charset="0"/>
                              </a:rPr>
                              <m:t>𝑋</m:t>
                            </m:r>
                          </m:e>
                        </m:acc>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𝐸</m:t>
                        </m:r>
                      </m:sub>
                    </m:sSub>
                  </m:oMath>
                </a14:m>
                <a:r>
                  <a:rPr kumimoji="0" lang="en-US" sz="1800" b="0" i="0" u="none" strike="noStrike" kern="1200" cap="none" spc="0" normalizeH="0" baseline="0" noProof="0" dirty="0">
                    <a:ln>
                      <a:noFill/>
                    </a:ln>
                    <a:solidFill>
                      <a:srgbClr val="000000"/>
                    </a:solidFill>
                    <a:effectLst/>
                    <a:uLnTx/>
                    <a:uFillTx/>
                    <a:latin typeface="Arial"/>
                    <a:ea typeface="+mn-ea"/>
                    <a:cs typeface="+mn-cs"/>
                  </a:rPr>
                  <a:t>=4.1442</a:t>
                </a:r>
              </a:p>
            </p:txBody>
          </p:sp>
        </mc:Choice>
        <mc:Fallback xmlns="">
          <p:sp>
            <p:nvSpPr>
              <p:cNvPr id="20" name="Rectangle 19">
                <a:extLst>
                  <a:ext uri="{FF2B5EF4-FFF2-40B4-BE49-F238E27FC236}">
                    <a16:creationId xmlns:a16="http://schemas.microsoft.com/office/drawing/2014/main" id="{77C0B7F4-8B56-5A46-BB6C-015D1D634C94}"/>
                  </a:ext>
                </a:extLst>
              </p:cNvPr>
              <p:cNvSpPr>
                <a:spLocks noRot="1" noChangeAspect="1" noMove="1" noResize="1" noEditPoints="1" noAdjustHandles="1" noChangeArrowheads="1" noChangeShapeType="1" noTextEdit="1"/>
              </p:cNvSpPr>
              <p:nvPr/>
            </p:nvSpPr>
            <p:spPr>
              <a:xfrm>
                <a:off x="6812818" y="3429000"/>
                <a:ext cx="1782347" cy="369332"/>
              </a:xfrm>
              <a:prstGeom prst="rect">
                <a:avLst/>
              </a:prstGeom>
              <a:blipFill>
                <a:blip r:embed="rId3"/>
                <a:stretch>
                  <a:fillRect t="-10000" r="-2128" b="-23333"/>
                </a:stretch>
              </a:blipFill>
            </p:spPr>
            <p:txBody>
              <a:bodyPr/>
              <a:lstStyle/>
              <a:p>
                <a:r>
                  <a:rPr lang="en-US">
                    <a:noFill/>
                  </a:rPr>
                  <a:t> </a:t>
                </a:r>
              </a:p>
            </p:txBody>
          </p:sp>
        </mc:Fallback>
      </mc:AlternateContent>
    </p:spTree>
    <p:extLst>
      <p:ext uri="{BB962C8B-B14F-4D97-AF65-F5344CB8AC3E}">
        <p14:creationId xmlns:p14="http://schemas.microsoft.com/office/powerpoint/2010/main" val="1065134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500"/>
                                        <p:tgtEl>
                                          <p:spTgt spid="6">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fade">
                                      <p:cBhvr>
                                        <p:cTn id="13" dur="500"/>
                                        <p:tgtEl>
                                          <p:spTgt spid="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fade">
                                      <p:cBhvr>
                                        <p:cTn id="23" dur="500"/>
                                        <p:tgtEl>
                                          <p:spTgt spid="6">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6">
                                            <p:txEl>
                                              <p:pRg st="5" end="5"/>
                                            </p:txEl>
                                          </p:spTgt>
                                        </p:tgtEl>
                                        <p:attrNameLst>
                                          <p:attrName>style.visibility</p:attrName>
                                        </p:attrNameLst>
                                      </p:cBhvr>
                                      <p:to>
                                        <p:strVal val="visible"/>
                                      </p:to>
                                    </p:set>
                                    <p:animEffect transition="in" filter="fade">
                                      <p:cBhvr>
                                        <p:cTn id="26" dur="500"/>
                                        <p:tgtEl>
                                          <p:spTgt spid="6">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6">
                                            <p:txEl>
                                              <p:pRg st="7" end="7"/>
                                            </p:txEl>
                                          </p:spTgt>
                                        </p:tgtEl>
                                        <p:attrNameLst>
                                          <p:attrName>style.visibility</p:attrName>
                                        </p:attrNameLst>
                                      </p:cBhvr>
                                      <p:to>
                                        <p:strVal val="visible"/>
                                      </p:to>
                                    </p:set>
                                    <p:animEffect transition="in" filter="fade">
                                      <p:cBhvr>
                                        <p:cTn id="36"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260F5-74DC-B629-448F-90DB5C5465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B483F0-45BB-7BBB-AC17-368C5D2A2039}"/>
              </a:ext>
            </a:extLst>
          </p:cNvPr>
          <p:cNvSpPr>
            <a:spLocks noGrp="1"/>
          </p:cNvSpPr>
          <p:nvPr>
            <p:ph type="title"/>
          </p:nvPr>
        </p:nvSpPr>
        <p:spPr>
          <a:xfrm>
            <a:off x="0" y="228600"/>
            <a:ext cx="12192000" cy="1143000"/>
          </a:xfrm>
        </p:spPr>
        <p:txBody>
          <a:bodyPr>
            <a:normAutofit/>
          </a:bodyPr>
          <a:lstStyle/>
          <a:p>
            <a:r>
              <a:rPr lang="en-US" dirty="0"/>
              <a:t>Creativity Study: </a:t>
            </a:r>
            <a:r>
              <a:rPr lang="en-US" dirty="0" err="1"/>
              <a:t>Pvalue</a:t>
            </a:r>
            <a:endParaRPr lang="en-US" dirty="0"/>
          </a:p>
        </p:txBody>
      </p:sp>
      <p:pic>
        <p:nvPicPr>
          <p:cNvPr id="5" name="Content Placeholder 3">
            <a:extLst>
              <a:ext uri="{FF2B5EF4-FFF2-40B4-BE49-F238E27FC236}">
                <a16:creationId xmlns:a16="http://schemas.microsoft.com/office/drawing/2014/main" id="{E6DFCF28-4E17-4889-BB47-F1F5E724051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2171" r="16775"/>
          <a:stretch/>
        </p:blipFill>
        <p:spPr>
          <a:xfrm>
            <a:off x="3661712" y="1831462"/>
            <a:ext cx="2527240" cy="4139295"/>
          </a:xfrm>
          <a:prstGeom prst="rect">
            <a:avLst/>
          </a:prstGeom>
        </p:spPr>
      </p:pic>
      <p:sp>
        <p:nvSpPr>
          <p:cNvPr id="6" name="Right Arrow 5">
            <a:extLst>
              <a:ext uri="{FF2B5EF4-FFF2-40B4-BE49-F238E27FC236}">
                <a16:creationId xmlns:a16="http://schemas.microsoft.com/office/drawing/2014/main" id="{003EE94D-BB6D-F64C-B0AD-18D9877EF339}"/>
              </a:ext>
            </a:extLst>
          </p:cNvPr>
          <p:cNvSpPr/>
          <p:nvPr/>
        </p:nvSpPr>
        <p:spPr>
          <a:xfrm>
            <a:off x="6625616" y="2745946"/>
            <a:ext cx="1087374" cy="3629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7" name="TextBox 6">
            <a:extLst>
              <a:ext uri="{FF2B5EF4-FFF2-40B4-BE49-F238E27FC236}">
                <a16:creationId xmlns:a16="http://schemas.microsoft.com/office/drawing/2014/main" id="{C0601EC5-D142-811F-2008-7F3AC7F6F1DF}"/>
              </a:ext>
            </a:extLst>
          </p:cNvPr>
          <p:cNvSpPr txBox="1"/>
          <p:nvPr/>
        </p:nvSpPr>
        <p:spPr>
          <a:xfrm>
            <a:off x="8369389" y="2013334"/>
            <a:ext cx="1689011"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1000 different groupings (relabelings)*</a:t>
            </a:r>
          </a:p>
        </p:txBody>
      </p:sp>
      <p:sp>
        <p:nvSpPr>
          <p:cNvPr id="8" name="TextBox 7">
            <a:extLst>
              <a:ext uri="{FF2B5EF4-FFF2-40B4-BE49-F238E27FC236}">
                <a16:creationId xmlns:a16="http://schemas.microsoft.com/office/drawing/2014/main" id="{10F63DE4-0610-61C8-1DA1-A5461C364118}"/>
              </a:ext>
            </a:extLst>
          </p:cNvPr>
          <p:cNvSpPr txBox="1"/>
          <p:nvPr/>
        </p:nvSpPr>
        <p:spPr>
          <a:xfrm>
            <a:off x="686669" y="2191709"/>
            <a:ext cx="2899713"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Number of random regroupings: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1.6 x 10</a:t>
            </a:r>
            <a:r>
              <a:rPr kumimoji="0" lang="en-US" sz="1800" b="0" i="0" u="none" strike="noStrike" kern="1200" cap="none" spc="0" normalizeH="0" baseline="30000" noProof="0" dirty="0">
                <a:ln>
                  <a:noFill/>
                </a:ln>
                <a:solidFill>
                  <a:srgbClr val="000000"/>
                </a:solidFill>
                <a:effectLst/>
                <a:uLnTx/>
                <a:uFillTx/>
                <a:latin typeface="Arial"/>
                <a:ea typeface="+mn-ea"/>
                <a:cs typeface="+mn-cs"/>
              </a:rPr>
              <a:t>13</a:t>
            </a:r>
          </a:p>
        </p:txBody>
      </p:sp>
      <p:sp>
        <p:nvSpPr>
          <p:cNvPr id="9" name="TextBox 8">
            <a:extLst>
              <a:ext uri="{FF2B5EF4-FFF2-40B4-BE49-F238E27FC236}">
                <a16:creationId xmlns:a16="http://schemas.microsoft.com/office/drawing/2014/main" id="{7FACAFE5-15C7-7017-FE00-6227660B2D92}"/>
              </a:ext>
            </a:extLst>
          </p:cNvPr>
          <p:cNvSpPr txBox="1"/>
          <p:nvPr/>
        </p:nvSpPr>
        <p:spPr>
          <a:xfrm>
            <a:off x="611340" y="3429000"/>
            <a:ext cx="2899713" cy="1200329"/>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Half a year with a computer that can perform a million calculations per second!</a:t>
            </a:r>
            <a:endParaRPr kumimoji="0" lang="en-US" sz="1800" b="0" i="0" u="none" strike="noStrike" kern="1200" cap="none" spc="0" normalizeH="0" baseline="30000" noProof="0" dirty="0">
              <a:ln>
                <a:noFill/>
              </a:ln>
              <a:solidFill>
                <a:srgbClr val="000000"/>
              </a:solidFill>
              <a:effectLst/>
              <a:uLnTx/>
              <a:uFillTx/>
              <a:latin typeface="Arial"/>
              <a:ea typeface="+mn-ea"/>
              <a:cs typeface="+mn-cs"/>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A1E936B-9F88-EBE7-FFC3-DCBF97D52531}"/>
                  </a:ext>
                </a:extLst>
              </p:cNvPr>
              <p:cNvSpPr txBox="1"/>
              <p:nvPr/>
            </p:nvSpPr>
            <p:spPr>
              <a:xfrm>
                <a:off x="6416186" y="1828669"/>
                <a:ext cx="195320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𝐻</m:t>
                        </m:r>
                      </m:e>
                      <m:sub>
                        <m:r>
                          <a:rPr kumimoji="0" lang="en-US" sz="1800" b="0" i="1" u="none" strike="noStrike" kern="1200" cap="none" spc="0" normalizeH="0" baseline="0" noProof="0">
                            <a:ln>
                              <a:noFill/>
                            </a:ln>
                            <a:solidFill>
                              <a:srgbClr val="000000"/>
                            </a:solidFill>
                            <a:effectLst/>
                            <a:uLnTx/>
                            <a:uFillTx/>
                            <a:latin typeface="Cambria Math" charset="0"/>
                            <a:ea typeface="+mn-ea"/>
                            <a:cs typeface="+mn-cs"/>
                          </a:rPr>
                          <m:t>0: </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𝜇</m:t>
                        </m:r>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𝐼</m:t>
                        </m:r>
                      </m:sub>
                    </m:sSub>
                  </m:oMath>
                </a14:m>
                <a:r>
                  <a:rPr kumimoji="0" lang="en-US" sz="1800" b="0" i="0" u="none" strike="noStrike" kern="1200" cap="none" spc="0" normalizeH="0" baseline="0" noProof="0" dirty="0">
                    <a:ln>
                      <a:noFill/>
                    </a:ln>
                    <a:solidFill>
                      <a:srgbClr val="000000"/>
                    </a:solidFill>
                    <a:effectLst/>
                    <a:uLnTx/>
                    <a:uFillTx/>
                    <a:latin typeface="Arial"/>
                    <a:ea typeface="+mn-ea"/>
                    <a:cs typeface="+mn-cs"/>
                  </a:rPr>
                  <a:t> -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𝜇</m:t>
                        </m:r>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𝐸</m:t>
                        </m:r>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 </m:t>
                        </m:r>
                      </m:sub>
                    </m:s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=0</m:t>
                    </m:r>
                  </m:oMath>
                </a14:m>
                <a:endParaRPr kumimoji="0" lang="en-US" sz="1800" b="0" i="0" u="none" strike="noStrike" kern="1200" cap="none" spc="0" normalizeH="0" baseline="0" noProof="0" dirty="0">
                  <a:ln>
                    <a:noFill/>
                  </a:ln>
                  <a:solidFill>
                    <a:srgbClr val="000000"/>
                  </a:solidFill>
                  <a:effectLst/>
                  <a:uLnTx/>
                  <a:uFillTx/>
                  <a:latin typeface="Arial"/>
                  <a:ea typeface="Cambria Math" charset="0"/>
                  <a:cs typeface="Cambria Math"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𝐻</m:t>
                        </m:r>
                      </m:e>
                      <m:sub>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𝐴</m:t>
                        </m:r>
                        <m:r>
                          <a:rPr kumimoji="0" lang="en-US" sz="1800" b="0" i="1" u="none" strike="noStrike" kern="1200" cap="none" spc="0" normalizeH="0" baseline="0" noProof="0">
                            <a:ln>
                              <a:noFill/>
                            </a:ln>
                            <a:solidFill>
                              <a:srgbClr val="000000"/>
                            </a:solidFill>
                            <a:effectLst/>
                            <a:uLnTx/>
                            <a:uFillTx/>
                            <a:latin typeface="Cambria Math" charset="0"/>
                            <a:ea typeface="+mn-ea"/>
                            <a:cs typeface="+mn-cs"/>
                          </a:rPr>
                          <m:t>: </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𝜇</m:t>
                        </m:r>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𝐼</m:t>
                        </m:r>
                      </m:sub>
                    </m:sSub>
                  </m:oMath>
                </a14:m>
                <a:r>
                  <a:rPr kumimoji="0" lang="en-US" sz="1800" b="0" i="0" u="none" strike="noStrike" kern="1200" cap="none" spc="0" normalizeH="0" baseline="0" noProof="0" dirty="0">
                    <a:ln>
                      <a:noFill/>
                    </a:ln>
                    <a:solidFill>
                      <a:srgbClr val="000000"/>
                    </a:solidFill>
                    <a:effectLst/>
                    <a:uLnTx/>
                    <a:uFillTx/>
                    <a:latin typeface="Arial"/>
                    <a:ea typeface="+mn-ea"/>
                    <a:cs typeface="+mn-cs"/>
                  </a:rPr>
                  <a:t> -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𝜇</m:t>
                        </m:r>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𝐸</m:t>
                        </m:r>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 </m:t>
                        </m:r>
                      </m:sub>
                    </m:sSub>
                    <m:r>
                      <a:rPr kumimoji="0" lang="en-US" sz="1800" b="0" i="1" u="none" strike="noStrike" kern="1200" cap="none" spc="0" normalizeH="0" baseline="0" noProof="0" dirty="0">
                        <a:ln>
                          <a:noFill/>
                        </a:ln>
                        <a:solidFill>
                          <a:srgbClr val="000000"/>
                        </a:solidFill>
                        <a:effectLst/>
                        <a:uLnTx/>
                        <a:uFillTx/>
                        <a:latin typeface="Cambria Math" charset="0"/>
                        <a:ea typeface="Cambria Math" charset="0"/>
                        <a:cs typeface="Cambria Math" charset="0"/>
                      </a:rPr>
                      <m:t>≠</m:t>
                    </m:r>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0</m:t>
                    </m:r>
                  </m:oMath>
                </a14:m>
                <a:endParaRPr kumimoji="0" lang="en-US" sz="1800" b="0" i="0" u="none" strike="noStrike" kern="1200" cap="none" spc="0" normalizeH="0" baseline="0" noProof="0" dirty="0">
                  <a:ln>
                    <a:noFill/>
                  </a:ln>
                  <a:solidFill>
                    <a:srgbClr val="000000"/>
                  </a:solidFill>
                  <a:effectLst/>
                  <a:uLnTx/>
                  <a:uFillTx/>
                  <a:latin typeface="Arial"/>
                  <a:ea typeface="Cambria Math" charset="0"/>
                  <a:cs typeface="Cambria Math" charset="0"/>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6416186" y="1828669"/>
                <a:ext cx="1953202" cy="646331"/>
              </a:xfrm>
              <a:prstGeom prst="rect">
                <a:avLst/>
              </a:prstGeom>
              <a:blipFill>
                <a:blip r:embed="rId4"/>
                <a:stretch>
                  <a:fillRect t="-3922" b="-13725"/>
                </a:stretch>
              </a:blipFill>
            </p:spPr>
            <p:txBody>
              <a:bodyPr/>
              <a:lstStyle/>
              <a:p>
                <a:r>
                  <a:rPr lang="en-US">
                    <a:noFill/>
                  </a:rPr>
                  <a:t> </a:t>
                </a:r>
              </a:p>
            </p:txBody>
          </p:sp>
        </mc:Fallback>
      </mc:AlternateContent>
      <p:grpSp>
        <p:nvGrpSpPr>
          <p:cNvPr id="13" name="Group 12">
            <a:extLst>
              <a:ext uri="{FF2B5EF4-FFF2-40B4-BE49-F238E27FC236}">
                <a16:creationId xmlns:a16="http://schemas.microsoft.com/office/drawing/2014/main" id="{38CB6B85-24AA-E95E-B32A-3E2B6203444C}"/>
              </a:ext>
            </a:extLst>
          </p:cNvPr>
          <p:cNvGrpSpPr/>
          <p:nvPr/>
        </p:nvGrpSpPr>
        <p:grpSpPr>
          <a:xfrm>
            <a:off x="6895008" y="3293193"/>
            <a:ext cx="3428553" cy="2571415"/>
            <a:chOff x="4758102" y="1849580"/>
            <a:chExt cx="3428553" cy="2571415"/>
          </a:xfrm>
        </p:grpSpPr>
        <p:pic>
          <p:nvPicPr>
            <p:cNvPr id="16" name="Picture 15">
              <a:extLst>
                <a:ext uri="{FF2B5EF4-FFF2-40B4-BE49-F238E27FC236}">
                  <a16:creationId xmlns:a16="http://schemas.microsoft.com/office/drawing/2014/main" id="{73475B7E-BAC0-609B-3EDD-41BFB01E0D1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58102" y="1849580"/>
              <a:ext cx="3428553" cy="2571415"/>
            </a:xfrm>
            <a:prstGeom prst="rect">
              <a:avLst/>
            </a:prstGeom>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5167DA6B-8E0A-22B7-1CDF-085E28266AFA}"/>
                    </a:ext>
                  </a:extLst>
                </p:cNvPr>
                <p:cNvSpPr txBox="1"/>
                <p:nvPr/>
              </p:nvSpPr>
              <p:spPr>
                <a:xfrm>
                  <a:off x="7021832" y="2488902"/>
                  <a:ext cx="821827"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acc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𝑋</m:t>
                                </m:r>
                              </m:e>
                            </m:acc>
                          </m:e>
                          <m: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𝐼</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acc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𝑋</m:t>
                                </m:r>
                              </m:e>
                            </m:acc>
                          </m:e>
                          <m: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𝐸</m:t>
                            </m:r>
                          </m:sub>
                        </m:sSub>
                      </m:oMath>
                    </m:oMathPara>
                  </a14:m>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15" name="TextBox 14">
                  <a:extLst>
                    <a:ext uri="{FF2B5EF4-FFF2-40B4-BE49-F238E27FC236}">
                      <a16:creationId xmlns:a16="http://schemas.microsoft.com/office/drawing/2014/main" id="{7F0634E9-FCF6-4801-8A6F-EB6E2AFBAF94}"/>
                    </a:ext>
                  </a:extLst>
                </p:cNvPr>
                <p:cNvSpPr txBox="1">
                  <a:spLocks noRot="1" noChangeAspect="1" noMove="1" noResize="1" noEditPoints="1" noAdjustHandles="1" noChangeArrowheads="1" noChangeShapeType="1" noTextEdit="1"/>
                </p:cNvSpPr>
                <p:nvPr/>
              </p:nvSpPr>
              <p:spPr>
                <a:xfrm>
                  <a:off x="7021832" y="2488902"/>
                  <a:ext cx="821827" cy="276999"/>
                </a:xfrm>
                <a:prstGeom prst="rect">
                  <a:avLst/>
                </a:prstGeom>
                <a:blipFill>
                  <a:blip r:embed="rId6"/>
                  <a:stretch>
                    <a:fillRect l="-4545" r="-1515" b="-17391"/>
                  </a:stretch>
                </a:blipFill>
              </p:spPr>
              <p:txBody>
                <a:bodyPr/>
                <a:lstStyle/>
                <a:p>
                  <a:r>
                    <a:rPr lang="en-US">
                      <a:noFill/>
                    </a:rPr>
                    <a:t> </a:t>
                  </a:r>
                </a:p>
              </p:txBody>
            </p:sp>
          </mc:Fallback>
        </mc:AlternateContent>
      </p:grpSp>
      <p:sp>
        <p:nvSpPr>
          <p:cNvPr id="21" name="TextBox 20">
            <a:extLst>
              <a:ext uri="{FF2B5EF4-FFF2-40B4-BE49-F238E27FC236}">
                <a16:creationId xmlns:a16="http://schemas.microsoft.com/office/drawing/2014/main" id="{412AD7C1-000D-AA3D-11D0-78A09F5858A5}"/>
              </a:ext>
            </a:extLst>
          </p:cNvPr>
          <p:cNvSpPr txBox="1"/>
          <p:nvPr/>
        </p:nvSpPr>
        <p:spPr>
          <a:xfrm>
            <a:off x="1655732" y="6178569"/>
            <a:ext cx="888053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*Everyone has the </a:t>
            </a:r>
            <a:r>
              <a:rPr kumimoji="0" lang="en-US" sz="1200" b="1" i="0" u="none" strike="noStrike" kern="1200" cap="none" spc="0" normalizeH="0" baseline="0" noProof="0" dirty="0">
                <a:ln>
                  <a:noFill/>
                </a:ln>
                <a:solidFill>
                  <a:srgbClr val="000000"/>
                </a:solidFill>
                <a:effectLst/>
                <a:uLnTx/>
                <a:uFillTx/>
                <a:latin typeface="Arial"/>
                <a:ea typeface="+mn-ea"/>
                <a:cs typeface="+mn-cs"/>
              </a:rPr>
              <a:t>same score</a:t>
            </a:r>
            <a:r>
              <a:rPr kumimoji="0" lang="en-US" sz="1200" b="0" i="0" u="none" strike="noStrike" kern="1200" cap="none" spc="0" normalizeH="0" baseline="0" noProof="0" dirty="0">
                <a:ln>
                  <a:noFill/>
                </a:ln>
                <a:solidFill>
                  <a:srgbClr val="000000"/>
                </a:solidFill>
                <a:effectLst/>
                <a:uLnTx/>
                <a:uFillTx/>
                <a:latin typeface="Arial"/>
                <a:ea typeface="+mn-ea"/>
                <a:cs typeface="+mn-cs"/>
              </a:rPr>
              <a:t> with each grouping. What group each person is artificially put in changes with each regrouping. If the treatments had the same effect, then each participant would have the same score regardless of grouping. </a:t>
            </a:r>
          </a:p>
        </p:txBody>
      </p:sp>
    </p:spTree>
    <p:extLst>
      <p:ext uri="{BB962C8B-B14F-4D97-AF65-F5344CB8AC3E}">
        <p14:creationId xmlns:p14="http://schemas.microsoft.com/office/powerpoint/2010/main" val="1878324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par>
                                <p:cTn id="26" presetID="1" presetClass="entr" presetSubtype="0" fill="hold" grpId="0" nodeType="withEffect">
                                  <p:stCondLst>
                                    <p:cond delay="0"/>
                                  </p:stCondLst>
                                  <p:childTnLst>
                                    <p:set>
                                      <p:cBhvr>
                                        <p:cTn id="27" dur="1" fill="hold">
                                          <p:stCondLst>
                                            <p:cond delay="0"/>
                                          </p:stCondLst>
                                        </p:cTn>
                                        <p:tgtEl>
                                          <p:spTgt spid="21"/>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P spid="9" grpId="0"/>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5B612-50FE-6FE2-B461-9F5E319619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DC7A1D-7898-489E-3C2F-D4F823E48007}"/>
              </a:ext>
            </a:extLst>
          </p:cNvPr>
          <p:cNvSpPr>
            <a:spLocks noGrp="1"/>
          </p:cNvSpPr>
          <p:nvPr>
            <p:ph type="title"/>
          </p:nvPr>
        </p:nvSpPr>
        <p:spPr/>
        <p:txBody>
          <a:bodyPr/>
          <a:lstStyle/>
          <a:p>
            <a:r>
              <a:rPr lang="en-US" dirty="0"/>
              <a:t>Creativity Study</a:t>
            </a:r>
          </a:p>
        </p:txBody>
      </p:sp>
      <p:sp>
        <p:nvSpPr>
          <p:cNvPr id="3" name="Content Placeholder 2">
            <a:extLst>
              <a:ext uri="{FF2B5EF4-FFF2-40B4-BE49-F238E27FC236}">
                <a16:creationId xmlns:a16="http://schemas.microsoft.com/office/drawing/2014/main" id="{4BCF12CA-E548-E9B7-0239-02D9E414C190}"/>
              </a:ext>
            </a:extLst>
          </p:cNvPr>
          <p:cNvSpPr>
            <a:spLocks noGrp="1"/>
          </p:cNvSpPr>
          <p:nvPr>
            <p:ph idx="1"/>
          </p:nvPr>
        </p:nvSpPr>
        <p:spPr/>
        <p:txBody>
          <a:bodyPr/>
          <a:lstStyle/>
          <a:p>
            <a:pPr algn="ctr"/>
            <a:r>
              <a:rPr lang="en-US" dirty="0"/>
              <a:t>(go to SAS code)</a:t>
            </a:r>
          </a:p>
        </p:txBody>
      </p:sp>
      <p:graphicFrame>
        <p:nvGraphicFramePr>
          <p:cNvPr id="5" name="Table 4">
            <a:extLst>
              <a:ext uri="{FF2B5EF4-FFF2-40B4-BE49-F238E27FC236}">
                <a16:creationId xmlns:a16="http://schemas.microsoft.com/office/drawing/2014/main" id="{576B05FA-AA3D-3690-017C-79B767318A77}"/>
              </a:ext>
            </a:extLst>
          </p:cNvPr>
          <p:cNvGraphicFramePr>
            <a:graphicFrameLocks noGrp="1"/>
          </p:cNvGraphicFramePr>
          <p:nvPr/>
        </p:nvGraphicFramePr>
        <p:xfrm>
          <a:off x="2201379" y="3494192"/>
          <a:ext cx="7611112" cy="1123118"/>
        </p:xfrm>
        <a:graphic>
          <a:graphicData uri="http://schemas.openxmlformats.org/drawingml/2006/table">
            <a:tbl>
              <a:tblPr/>
              <a:tblGrid>
                <a:gridCol w="951389">
                  <a:extLst>
                    <a:ext uri="{9D8B030D-6E8A-4147-A177-3AD203B41FA5}">
                      <a16:colId xmlns:a16="http://schemas.microsoft.com/office/drawing/2014/main" val="2882985531"/>
                    </a:ext>
                  </a:extLst>
                </a:gridCol>
                <a:gridCol w="951389">
                  <a:extLst>
                    <a:ext uri="{9D8B030D-6E8A-4147-A177-3AD203B41FA5}">
                      <a16:colId xmlns:a16="http://schemas.microsoft.com/office/drawing/2014/main" val="2908315571"/>
                    </a:ext>
                  </a:extLst>
                </a:gridCol>
                <a:gridCol w="951389">
                  <a:extLst>
                    <a:ext uri="{9D8B030D-6E8A-4147-A177-3AD203B41FA5}">
                      <a16:colId xmlns:a16="http://schemas.microsoft.com/office/drawing/2014/main" val="1278110357"/>
                    </a:ext>
                  </a:extLst>
                </a:gridCol>
                <a:gridCol w="951389">
                  <a:extLst>
                    <a:ext uri="{9D8B030D-6E8A-4147-A177-3AD203B41FA5}">
                      <a16:colId xmlns:a16="http://schemas.microsoft.com/office/drawing/2014/main" val="3093202133"/>
                    </a:ext>
                  </a:extLst>
                </a:gridCol>
                <a:gridCol w="951389">
                  <a:extLst>
                    <a:ext uri="{9D8B030D-6E8A-4147-A177-3AD203B41FA5}">
                      <a16:colId xmlns:a16="http://schemas.microsoft.com/office/drawing/2014/main" val="3407833218"/>
                    </a:ext>
                  </a:extLst>
                </a:gridCol>
                <a:gridCol w="951389">
                  <a:extLst>
                    <a:ext uri="{9D8B030D-6E8A-4147-A177-3AD203B41FA5}">
                      <a16:colId xmlns:a16="http://schemas.microsoft.com/office/drawing/2014/main" val="1016388550"/>
                    </a:ext>
                  </a:extLst>
                </a:gridCol>
                <a:gridCol w="951389">
                  <a:extLst>
                    <a:ext uri="{9D8B030D-6E8A-4147-A177-3AD203B41FA5}">
                      <a16:colId xmlns:a16="http://schemas.microsoft.com/office/drawing/2014/main" val="3104962337"/>
                    </a:ext>
                  </a:extLst>
                </a:gridCol>
                <a:gridCol w="951389">
                  <a:extLst>
                    <a:ext uri="{9D8B030D-6E8A-4147-A177-3AD203B41FA5}">
                      <a16:colId xmlns:a16="http://schemas.microsoft.com/office/drawing/2014/main" val="3182066143"/>
                    </a:ext>
                  </a:extLst>
                </a:gridCol>
              </a:tblGrid>
              <a:tr h="260923">
                <a:tc>
                  <a:txBody>
                    <a:bodyPr/>
                    <a:lstStyle/>
                    <a:p>
                      <a:pPr algn="l" fontAlgn="b"/>
                      <a:r>
                        <a:rPr lang="en-US" sz="1100" b="1" i="0" dirty="0">
                          <a:solidFill>
                            <a:srgbClr val="112277"/>
                          </a:solidFill>
                          <a:effectLst/>
                          <a:latin typeface="Arial" panose="020B0604020202020204" pitchFamily="34" charset="0"/>
                        </a:rPr>
                        <a:t>treatment</a:t>
                      </a:r>
                    </a:p>
                  </a:txBody>
                  <a:tcPr marL="32784" marR="32784" marT="16392" marB="16392" anchor="b">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l" fontAlgn="b"/>
                      <a:r>
                        <a:rPr lang="en-US" sz="1100" b="1" i="0" dirty="0">
                          <a:solidFill>
                            <a:srgbClr val="112277"/>
                          </a:solidFill>
                          <a:effectLst/>
                          <a:latin typeface="Arial" panose="020B0604020202020204" pitchFamily="34" charset="0"/>
                        </a:rPr>
                        <a:t>Method</a:t>
                      </a:r>
                    </a:p>
                  </a:txBody>
                  <a:tcPr marL="32784" marR="32784" marT="16392" marB="16392" anchor="b">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r" fontAlgn="b"/>
                      <a:r>
                        <a:rPr lang="en-US" sz="1100" b="1" i="0" dirty="0">
                          <a:solidFill>
                            <a:srgbClr val="112277"/>
                          </a:solidFill>
                          <a:effectLst/>
                          <a:latin typeface="Arial" panose="020B0604020202020204" pitchFamily="34" charset="0"/>
                        </a:rPr>
                        <a:t>Mean</a:t>
                      </a:r>
                    </a:p>
                  </a:txBody>
                  <a:tcPr marL="32784" marR="32784" marT="16392" marB="16392" anchor="b">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DF2F9"/>
                    </a:solidFill>
                  </a:tcPr>
                </a:tc>
                <a:tc gridSpan="2">
                  <a:txBody>
                    <a:bodyPr/>
                    <a:lstStyle/>
                    <a:p>
                      <a:pPr algn="ctr" fontAlgn="b"/>
                      <a:r>
                        <a:rPr lang="en-US" sz="1100" b="1" i="0" dirty="0">
                          <a:solidFill>
                            <a:srgbClr val="112277"/>
                          </a:solidFill>
                          <a:effectLst/>
                          <a:latin typeface="Arial" panose="020B0604020202020204" pitchFamily="34" charset="0"/>
                        </a:rPr>
                        <a:t>95% CL Mean</a:t>
                      </a:r>
                    </a:p>
                  </a:txBody>
                  <a:tcPr marL="64970" marR="64970" marT="32485" marB="32485" anchor="b">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DF2F9"/>
                    </a:solidFill>
                  </a:tcPr>
                </a:tc>
                <a:tc hMerge="1">
                  <a:txBody>
                    <a:bodyPr/>
                    <a:lstStyle/>
                    <a:p>
                      <a:endParaRPr lang="en-US"/>
                    </a:p>
                  </a:txBody>
                  <a:tcPr/>
                </a:tc>
                <a:tc>
                  <a:txBody>
                    <a:bodyPr/>
                    <a:lstStyle/>
                    <a:p>
                      <a:pPr algn="r" fontAlgn="b"/>
                      <a:r>
                        <a:rPr lang="en-US" sz="1100" b="1" i="0" dirty="0">
                          <a:solidFill>
                            <a:srgbClr val="112277"/>
                          </a:solidFill>
                          <a:effectLst/>
                          <a:latin typeface="Arial" panose="020B0604020202020204" pitchFamily="34" charset="0"/>
                        </a:rPr>
                        <a:t>Std Dev</a:t>
                      </a:r>
                    </a:p>
                  </a:txBody>
                  <a:tcPr marL="32784" marR="32784" marT="16392" marB="16392" anchor="b">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DF2F9"/>
                    </a:solidFill>
                  </a:tcPr>
                </a:tc>
                <a:tc gridSpan="2">
                  <a:txBody>
                    <a:bodyPr/>
                    <a:lstStyle/>
                    <a:p>
                      <a:pPr algn="ctr" fontAlgn="b"/>
                      <a:r>
                        <a:rPr lang="en-US" sz="1100" b="1" i="0" dirty="0">
                          <a:solidFill>
                            <a:srgbClr val="112277"/>
                          </a:solidFill>
                          <a:effectLst/>
                          <a:latin typeface="Arial" panose="020B0604020202020204" pitchFamily="34" charset="0"/>
                        </a:rPr>
                        <a:t>95% CL Std Dev</a:t>
                      </a:r>
                    </a:p>
                  </a:txBody>
                  <a:tcPr marL="64970" marR="64970" marT="32485" marB="32485" anchor="b">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DF2F9"/>
                    </a:solidFill>
                  </a:tcPr>
                </a:tc>
                <a:tc hMerge="1">
                  <a:txBody>
                    <a:bodyPr/>
                    <a:lstStyle/>
                    <a:p>
                      <a:endParaRPr lang="en-US"/>
                    </a:p>
                  </a:txBody>
                  <a:tcPr/>
                </a:tc>
                <a:extLst>
                  <a:ext uri="{0D108BD9-81ED-4DB2-BD59-A6C34878D82A}">
                    <a16:rowId xmlns:a16="http://schemas.microsoft.com/office/drawing/2014/main" val="892175911"/>
                  </a:ext>
                </a:extLst>
              </a:tr>
              <a:tr h="195207">
                <a:tc>
                  <a:txBody>
                    <a:bodyPr/>
                    <a:lstStyle/>
                    <a:p>
                      <a:pPr algn="l" fontAlgn="t"/>
                      <a:r>
                        <a:rPr lang="en-US" sz="1100" b="1" i="0" dirty="0">
                          <a:solidFill>
                            <a:srgbClr val="112277"/>
                          </a:solidFill>
                          <a:effectLst/>
                          <a:latin typeface="Arial" panose="020B0604020202020204" pitchFamily="34" charset="0"/>
                        </a:rPr>
                        <a:t>0</a:t>
                      </a:r>
                    </a:p>
                  </a:txBody>
                  <a:tcPr marL="32784" marR="32784" marT="16392" marB="16392">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l" fontAlgn="t"/>
                      <a:r>
                        <a:rPr lang="en-US" sz="1100" b="1" i="0" dirty="0">
                          <a:solidFill>
                            <a:srgbClr val="112277"/>
                          </a:solidFill>
                          <a:effectLst/>
                          <a:latin typeface="Arial" panose="020B0604020202020204" pitchFamily="34" charset="0"/>
                        </a:rPr>
                        <a:t> </a:t>
                      </a:r>
                    </a:p>
                  </a:txBody>
                  <a:tcPr marL="32784" marR="32784" marT="16392" marB="16392">
                    <a:lnL w="9525" cap="flat" cmpd="sng" algn="ctr">
                      <a:solidFill>
                        <a:srgbClr val="B0B7BB"/>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r" fontAlgn="t"/>
                      <a:r>
                        <a:rPr lang="en-US" sz="1100" b="0" i="0" dirty="0">
                          <a:effectLst/>
                          <a:latin typeface="Arial" panose="020B0604020202020204" pitchFamily="34" charset="0"/>
                        </a:rPr>
                        <a:t>19.8833</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18.0087</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21.7580</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4.4395</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3.4504</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6.2276</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extLst>
                  <a:ext uri="{0D108BD9-81ED-4DB2-BD59-A6C34878D82A}">
                    <a16:rowId xmlns:a16="http://schemas.microsoft.com/office/drawing/2014/main" val="2388663137"/>
                  </a:ext>
                </a:extLst>
              </a:tr>
              <a:tr h="195207">
                <a:tc>
                  <a:txBody>
                    <a:bodyPr/>
                    <a:lstStyle/>
                    <a:p>
                      <a:pPr algn="l" fontAlgn="t"/>
                      <a:r>
                        <a:rPr lang="en-US" sz="1100" b="1" i="0" dirty="0">
                          <a:solidFill>
                            <a:srgbClr val="112277"/>
                          </a:solidFill>
                          <a:effectLst/>
                          <a:latin typeface="Arial" panose="020B0604020202020204" pitchFamily="34" charset="0"/>
                        </a:rPr>
                        <a:t>1</a:t>
                      </a:r>
                    </a:p>
                  </a:txBody>
                  <a:tcPr marL="32784" marR="32784" marT="16392" marB="16392">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l" fontAlgn="t"/>
                      <a:r>
                        <a:rPr lang="en-US" sz="1100" b="1" i="0" dirty="0">
                          <a:solidFill>
                            <a:srgbClr val="112277"/>
                          </a:solidFill>
                          <a:effectLst/>
                          <a:latin typeface="Arial" panose="020B0604020202020204" pitchFamily="34" charset="0"/>
                        </a:rPr>
                        <a:t> </a:t>
                      </a:r>
                    </a:p>
                  </a:txBody>
                  <a:tcPr marL="32784" marR="32784" marT="16392" marB="16392">
                    <a:lnL w="9525" cap="flat" cmpd="sng" algn="ctr">
                      <a:solidFill>
                        <a:srgbClr val="B0B7BB"/>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r" fontAlgn="t"/>
                      <a:r>
                        <a:rPr lang="en-US" sz="1100" b="0" i="0" dirty="0">
                          <a:effectLst/>
                          <a:latin typeface="Arial" panose="020B0604020202020204" pitchFamily="34" charset="0"/>
                        </a:rPr>
                        <a:t>15.7391</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13.4677</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18.0105</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5.2526</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4.0623</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7.4343</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extLst>
                  <a:ext uri="{0D108BD9-81ED-4DB2-BD59-A6C34878D82A}">
                    <a16:rowId xmlns:a16="http://schemas.microsoft.com/office/drawing/2014/main" val="796456744"/>
                  </a:ext>
                </a:extLst>
              </a:tr>
              <a:tr h="195207">
                <a:tc>
                  <a:txBody>
                    <a:bodyPr/>
                    <a:lstStyle/>
                    <a:p>
                      <a:pPr algn="l" fontAlgn="t"/>
                      <a:r>
                        <a:rPr lang="en-US" sz="1100" b="1" i="0" dirty="0">
                          <a:solidFill>
                            <a:srgbClr val="112277"/>
                          </a:solidFill>
                          <a:effectLst/>
                          <a:latin typeface="Arial" panose="020B0604020202020204" pitchFamily="34" charset="0"/>
                        </a:rPr>
                        <a:t>Diff (1-2)</a:t>
                      </a:r>
                    </a:p>
                  </a:txBody>
                  <a:tcPr marL="32784" marR="32784" marT="16392" marB="16392">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l" fontAlgn="t"/>
                      <a:r>
                        <a:rPr lang="en-US" sz="1100" b="1" i="0" dirty="0">
                          <a:solidFill>
                            <a:srgbClr val="112277"/>
                          </a:solidFill>
                          <a:effectLst/>
                          <a:latin typeface="Arial" panose="020B0604020202020204" pitchFamily="34" charset="0"/>
                        </a:rPr>
                        <a:t>Pooled</a:t>
                      </a:r>
                    </a:p>
                  </a:txBody>
                  <a:tcPr marL="32784" marR="32784" marT="16392" marB="16392">
                    <a:lnL w="9525" cap="flat" cmpd="sng" algn="ctr">
                      <a:solidFill>
                        <a:srgbClr val="B0B7BB"/>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r" fontAlgn="t"/>
                      <a:r>
                        <a:rPr lang="en-US" sz="1100" b="0" i="0" dirty="0">
                          <a:effectLst/>
                          <a:latin typeface="Arial" panose="020B0604020202020204" pitchFamily="34" charset="0"/>
                        </a:rPr>
                        <a:t>4.1442</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1.2914</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6.9970</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4.8541</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4.0261</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6.1138</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extLst>
                  <a:ext uri="{0D108BD9-81ED-4DB2-BD59-A6C34878D82A}">
                    <a16:rowId xmlns:a16="http://schemas.microsoft.com/office/drawing/2014/main" val="3846186134"/>
                  </a:ext>
                </a:extLst>
              </a:tr>
              <a:tr h="260923">
                <a:tc>
                  <a:txBody>
                    <a:bodyPr/>
                    <a:lstStyle/>
                    <a:p>
                      <a:pPr algn="l" fontAlgn="t"/>
                      <a:r>
                        <a:rPr lang="en-US" sz="1100" b="1" i="0" dirty="0">
                          <a:solidFill>
                            <a:srgbClr val="112277"/>
                          </a:solidFill>
                          <a:effectLst/>
                          <a:latin typeface="Arial" panose="020B0604020202020204" pitchFamily="34" charset="0"/>
                        </a:rPr>
                        <a:t>Diff (1-2)</a:t>
                      </a:r>
                    </a:p>
                  </a:txBody>
                  <a:tcPr marL="32784" marR="32784" marT="16392" marB="16392">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l" fontAlgn="t"/>
                      <a:r>
                        <a:rPr lang="en-US" sz="1100" b="1" i="0" dirty="0">
                          <a:solidFill>
                            <a:srgbClr val="112277"/>
                          </a:solidFill>
                          <a:effectLst/>
                          <a:latin typeface="Arial" panose="020B0604020202020204" pitchFamily="34" charset="0"/>
                        </a:rPr>
                        <a:t>Satterthwaite</a:t>
                      </a:r>
                    </a:p>
                  </a:txBody>
                  <a:tcPr marL="32784" marR="32784" marT="16392" marB="16392">
                    <a:lnL w="9525" cap="flat" cmpd="sng" algn="ctr">
                      <a:solidFill>
                        <a:srgbClr val="B0B7BB"/>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r" fontAlgn="t"/>
                      <a:r>
                        <a:rPr lang="en-US" sz="1100" b="0" i="0" dirty="0">
                          <a:effectLst/>
                          <a:latin typeface="Arial" panose="020B0604020202020204" pitchFamily="34" charset="0"/>
                        </a:rPr>
                        <a:t>4.1442</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1.2776</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7.0108</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 </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 </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1100" b="0" i="0" dirty="0">
                          <a:effectLst/>
                          <a:latin typeface="Arial" panose="020B0604020202020204" pitchFamily="34" charset="0"/>
                        </a:rPr>
                        <a:t> </a:t>
                      </a:r>
                    </a:p>
                  </a:txBody>
                  <a:tcPr marL="32784" marR="32784" marT="16392" marB="16392">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extLst>
                  <a:ext uri="{0D108BD9-81ED-4DB2-BD59-A6C34878D82A}">
                    <a16:rowId xmlns:a16="http://schemas.microsoft.com/office/drawing/2014/main" val="657544687"/>
                  </a:ext>
                </a:extLst>
              </a:tr>
            </a:tbl>
          </a:graphicData>
        </a:graphic>
      </p:graphicFrame>
      <p:sp>
        <p:nvSpPr>
          <p:cNvPr id="6" name="Rectangle 1">
            <a:extLst>
              <a:ext uri="{FF2B5EF4-FFF2-40B4-BE49-F238E27FC236}">
                <a16:creationId xmlns:a16="http://schemas.microsoft.com/office/drawing/2014/main" id="{BDA1FECA-FFC9-8C15-6E2E-01B1CE68FA39}"/>
              </a:ext>
            </a:extLst>
          </p:cNvPr>
          <p:cNvSpPr>
            <a:spLocks noChangeArrowheads="1"/>
          </p:cNvSpPr>
          <p:nvPr/>
        </p:nvSpPr>
        <p:spPr bwMode="auto">
          <a:xfrm>
            <a:off x="1702130" y="2278181"/>
            <a:ext cx="8609610" cy="760414"/>
          </a:xfrm>
          <a:prstGeom prst="rect">
            <a:avLst/>
          </a:prstGeom>
          <a:solidFill>
            <a:srgbClr val="FAFBF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15870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srgbClr val="112277"/>
                </a:solidFill>
                <a:effectLst/>
                <a:uLnTx/>
                <a:uFillTx/>
                <a:latin typeface="Arial" panose="020B0604020202020204" pitchFamily="34" charset="0"/>
                <a:ea typeface="+mn-ea"/>
                <a:cs typeface="Arial" panose="020B0604020202020204" pitchFamily="34" charset="0"/>
              </a:rPr>
              <a:t>The TTEST Procedure</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srgbClr val="112277"/>
                </a:solidFill>
                <a:effectLst/>
                <a:uLnTx/>
                <a:uFillTx/>
                <a:latin typeface="Arial" panose="020B0604020202020204" pitchFamily="34" charset="0"/>
                <a:ea typeface="+mn-ea"/>
                <a:cs typeface="Arial" panose="020B0604020202020204" pitchFamily="34" charset="0"/>
              </a:rPr>
              <a:t>Variable: score</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7" name="Rectangle 6">
            <a:extLst>
              <a:ext uri="{FF2B5EF4-FFF2-40B4-BE49-F238E27FC236}">
                <a16:creationId xmlns:a16="http://schemas.microsoft.com/office/drawing/2014/main" id="{1681B09F-C2F3-09DE-DD16-ED8629117226}"/>
              </a:ext>
            </a:extLst>
          </p:cNvPr>
          <p:cNvSpPr/>
          <p:nvPr/>
        </p:nvSpPr>
        <p:spPr>
          <a:xfrm>
            <a:off x="4124697" y="4156364"/>
            <a:ext cx="938151" cy="20188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034096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1ADD6-9471-691B-C128-06B5182841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BA912F-CE90-8FB9-2A96-D838F28ADACB}"/>
              </a:ext>
            </a:extLst>
          </p:cNvPr>
          <p:cNvSpPr>
            <a:spLocks noGrp="1"/>
          </p:cNvSpPr>
          <p:nvPr>
            <p:ph type="title"/>
          </p:nvPr>
        </p:nvSpPr>
        <p:spPr/>
        <p:txBody>
          <a:bodyPr/>
          <a:lstStyle/>
          <a:p>
            <a:r>
              <a:rPr lang="en-US" dirty="0"/>
              <a:t>Creativity Study</a:t>
            </a:r>
          </a:p>
        </p:txBody>
      </p:sp>
      <p:pic>
        <p:nvPicPr>
          <p:cNvPr id="7" name="Content Placeholder 3">
            <a:extLst>
              <a:ext uri="{FF2B5EF4-FFF2-40B4-BE49-F238E27FC236}">
                <a16:creationId xmlns:a16="http://schemas.microsoft.com/office/drawing/2014/main" id="{DF116A8C-8FC8-FE94-1908-F04E2976EEB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2171" r="16775"/>
          <a:stretch/>
        </p:blipFill>
        <p:spPr>
          <a:xfrm>
            <a:off x="3429000" y="1870606"/>
            <a:ext cx="2123495" cy="3478013"/>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BB59EFF-2400-22DB-ED93-49B6FDB946D8}"/>
                  </a:ext>
                </a:extLst>
              </p:cNvPr>
              <p:cNvSpPr txBox="1"/>
              <p:nvPr/>
            </p:nvSpPr>
            <p:spPr>
              <a:xfrm>
                <a:off x="5793596" y="1794517"/>
                <a:ext cx="1953202" cy="20313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𝐻</m:t>
                        </m:r>
                      </m:e>
                      <m:sub>
                        <m:r>
                          <a:rPr kumimoji="0" lang="en-US" sz="1800" b="0" i="1" u="none" strike="noStrike" kern="1200" cap="none" spc="0" normalizeH="0" baseline="0" noProof="0">
                            <a:ln>
                              <a:noFill/>
                            </a:ln>
                            <a:solidFill>
                              <a:srgbClr val="000000"/>
                            </a:solidFill>
                            <a:effectLst/>
                            <a:uLnTx/>
                            <a:uFillTx/>
                            <a:latin typeface="Cambria Math" charset="0"/>
                            <a:ea typeface="+mn-ea"/>
                            <a:cs typeface="+mn-cs"/>
                          </a:rPr>
                          <m:t>0: </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𝜇</m:t>
                        </m:r>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𝐼</m:t>
                        </m:r>
                      </m:sub>
                    </m:sSub>
                  </m:oMath>
                </a14:m>
                <a:r>
                  <a:rPr kumimoji="0" lang="en-US" sz="1800" b="0" i="0" u="none" strike="noStrike" kern="1200" cap="none" spc="0" normalizeH="0" baseline="0" noProof="0" dirty="0">
                    <a:ln>
                      <a:noFill/>
                    </a:ln>
                    <a:solidFill>
                      <a:srgbClr val="000000"/>
                    </a:solidFill>
                    <a:effectLst/>
                    <a:uLnTx/>
                    <a:uFillTx/>
                    <a:latin typeface="Arial"/>
                    <a:ea typeface="+mn-ea"/>
                    <a:cs typeface="+mn-cs"/>
                  </a:rPr>
                  <a:t> -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𝜇</m:t>
                        </m:r>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𝐸</m:t>
                        </m:r>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 </m:t>
                        </m:r>
                      </m:sub>
                    </m:s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=0</m:t>
                    </m:r>
                  </m:oMath>
                </a14:m>
                <a:endParaRPr kumimoji="0" lang="en-US" sz="1800" b="0" i="0" u="none" strike="noStrike" kern="1200" cap="none" spc="0" normalizeH="0" baseline="0" noProof="0" dirty="0">
                  <a:ln>
                    <a:noFill/>
                  </a:ln>
                  <a:solidFill>
                    <a:srgbClr val="000000"/>
                  </a:solidFill>
                  <a:effectLst/>
                  <a:uLnTx/>
                  <a:uFillTx/>
                  <a:latin typeface="Arial"/>
                  <a:ea typeface="Cambria Math" charset="0"/>
                  <a:cs typeface="Cambria Math"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𝐻</m:t>
                        </m:r>
                      </m:e>
                      <m:sub>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𝐴</m:t>
                        </m:r>
                        <m:r>
                          <a:rPr kumimoji="0" lang="en-US" sz="1800" b="0" i="1" u="none" strike="noStrike" kern="1200" cap="none" spc="0" normalizeH="0" baseline="0" noProof="0">
                            <a:ln>
                              <a:noFill/>
                            </a:ln>
                            <a:solidFill>
                              <a:srgbClr val="000000"/>
                            </a:solidFill>
                            <a:effectLst/>
                            <a:uLnTx/>
                            <a:uFillTx/>
                            <a:latin typeface="Cambria Math" charset="0"/>
                            <a:ea typeface="+mn-ea"/>
                            <a:cs typeface="+mn-cs"/>
                          </a:rPr>
                          <m:t>: </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𝜇</m:t>
                        </m:r>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𝐼</m:t>
                        </m:r>
                      </m:sub>
                    </m:sSub>
                  </m:oMath>
                </a14:m>
                <a:r>
                  <a:rPr kumimoji="0" lang="en-US" sz="1800" b="0" i="0" u="none" strike="noStrike" kern="1200" cap="none" spc="0" normalizeH="0" baseline="0" noProof="0" dirty="0">
                    <a:ln>
                      <a:noFill/>
                    </a:ln>
                    <a:solidFill>
                      <a:srgbClr val="000000"/>
                    </a:solidFill>
                    <a:effectLst/>
                    <a:uLnTx/>
                    <a:uFillTx/>
                    <a:latin typeface="Arial"/>
                    <a:ea typeface="+mn-ea"/>
                    <a:cs typeface="+mn-cs"/>
                  </a:rPr>
                  <a:t> -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𝜇</m:t>
                        </m:r>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𝐸</m:t>
                        </m:r>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 </m:t>
                        </m:r>
                      </m:sub>
                    </m:sSub>
                    <m:r>
                      <a:rPr kumimoji="0" lang="en-US" sz="1800" b="0" i="1" u="none" strike="noStrike" kern="1200" cap="none" spc="0" normalizeH="0" baseline="0" noProof="0" dirty="0">
                        <a:ln>
                          <a:noFill/>
                        </a:ln>
                        <a:solidFill>
                          <a:srgbClr val="000000"/>
                        </a:solidFill>
                        <a:effectLst/>
                        <a:uLnTx/>
                        <a:uFillTx/>
                        <a:latin typeface="Cambria Math" charset="0"/>
                        <a:ea typeface="Cambria Math" charset="0"/>
                        <a:cs typeface="Cambria Math" charset="0"/>
                      </a:rPr>
                      <m:t>≠</m:t>
                    </m:r>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0</m:t>
                    </m:r>
                  </m:oMath>
                </a14:m>
                <a:endParaRPr kumimoji="0" lang="en-US" sz="1800" b="0" i="0" u="none" strike="noStrike" kern="1200" cap="none" spc="0" normalizeH="0" baseline="0" noProof="0" dirty="0">
                  <a:ln>
                    <a:noFill/>
                  </a:ln>
                  <a:solidFill>
                    <a:srgbClr val="000000"/>
                  </a:solidFill>
                  <a:effectLst/>
                  <a:uLnTx/>
                  <a:uFillTx/>
                  <a:latin typeface="Arial"/>
                  <a:ea typeface="Cambria Math" charset="0"/>
                  <a:cs typeface="Cambria Math"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5793596" y="1794517"/>
                <a:ext cx="1953202" cy="2031325"/>
              </a:xfrm>
              <a:prstGeom prst="rect">
                <a:avLst/>
              </a:prstGeom>
              <a:blipFill>
                <a:blip r:embed="rId3"/>
                <a:stretch>
                  <a:fillRect t="-1242"/>
                </a:stretch>
              </a:blipFill>
            </p:spPr>
            <p:txBody>
              <a:bodyPr/>
              <a:lstStyle/>
              <a:p>
                <a:r>
                  <a:rPr lang="en-US">
                    <a:noFill/>
                  </a:rPr>
                  <a:t> </a:t>
                </a:r>
              </a:p>
            </p:txBody>
          </p:sp>
        </mc:Fallback>
      </mc:AlternateContent>
      <p:sp>
        <p:nvSpPr>
          <p:cNvPr id="9" name="Right Arrow 8">
            <a:extLst>
              <a:ext uri="{FF2B5EF4-FFF2-40B4-BE49-F238E27FC236}">
                <a16:creationId xmlns:a16="http://schemas.microsoft.com/office/drawing/2014/main" id="{41DF84E0-1F43-184A-F145-856C8E300A62}"/>
              </a:ext>
            </a:extLst>
          </p:cNvPr>
          <p:cNvSpPr/>
          <p:nvPr/>
        </p:nvSpPr>
        <p:spPr>
          <a:xfrm>
            <a:off x="6183655" y="3367679"/>
            <a:ext cx="1087374" cy="3629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10" name="TextBox 9">
            <a:extLst>
              <a:ext uri="{FF2B5EF4-FFF2-40B4-BE49-F238E27FC236}">
                <a16:creationId xmlns:a16="http://schemas.microsoft.com/office/drawing/2014/main" id="{FD57F033-D6E4-902D-CAD6-233072671FF8}"/>
              </a:ext>
            </a:extLst>
          </p:cNvPr>
          <p:cNvSpPr txBox="1"/>
          <p:nvPr/>
        </p:nvSpPr>
        <p:spPr>
          <a:xfrm>
            <a:off x="5857441" y="2433874"/>
            <a:ext cx="1697426" cy="147732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1000 different groupings (relabelings)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13" name="TextBox 12">
            <a:extLst>
              <a:ext uri="{FF2B5EF4-FFF2-40B4-BE49-F238E27FC236}">
                <a16:creationId xmlns:a16="http://schemas.microsoft.com/office/drawing/2014/main" id="{2D6D80EB-F1C8-9962-3C5A-9EBE85AB05A0}"/>
              </a:ext>
            </a:extLst>
          </p:cNvPr>
          <p:cNvSpPr txBox="1"/>
          <p:nvPr/>
        </p:nvSpPr>
        <p:spPr>
          <a:xfrm>
            <a:off x="152401" y="5486400"/>
            <a:ext cx="11658599"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00000"/>
                </a:solidFill>
                <a:effectLst/>
                <a:uLnTx/>
                <a:uFillTx/>
                <a:latin typeface="Arial"/>
                <a:ea typeface="+mn-ea"/>
                <a:cs typeface="+mn-cs"/>
              </a:rPr>
              <a:t>Conclusion: </a:t>
            </a:r>
            <a:r>
              <a:rPr kumimoji="0" lang="en-US" sz="1500" b="0" i="0" u="none" strike="noStrike" kern="1200" cap="none" spc="0" normalizeH="0" baseline="0" noProof="0" dirty="0">
                <a:ln>
                  <a:noFill/>
                </a:ln>
                <a:solidFill>
                  <a:srgbClr val="000000"/>
                </a:solidFill>
                <a:effectLst/>
                <a:uLnTx/>
                <a:uFillTx/>
                <a:latin typeface="Arial"/>
                <a:ea typeface="+mn-ea"/>
                <a:cs typeface="+mn-cs"/>
              </a:rPr>
              <a:t>There is strong evidence to suggest that the mean score of those who receive intrinsic motivation is not equal to (greater than) those who receive the extrinsic motivation (p-value = .008).  Since this was a randomized experiment, we can conclude that the intrinsic motivation caused this increase.  In addition, since these were volunteers, this inference can only be assumed to apply to these 47 subjects, although the findings are very intriguing.   </a:t>
            </a:r>
          </a:p>
        </p:txBody>
      </p:sp>
      <p:grpSp>
        <p:nvGrpSpPr>
          <p:cNvPr id="4" name="Group 3">
            <a:extLst>
              <a:ext uri="{FF2B5EF4-FFF2-40B4-BE49-F238E27FC236}">
                <a16:creationId xmlns:a16="http://schemas.microsoft.com/office/drawing/2014/main" id="{62616190-145F-2388-381C-E9A4CCD394BC}"/>
              </a:ext>
            </a:extLst>
          </p:cNvPr>
          <p:cNvGrpSpPr/>
          <p:nvPr/>
        </p:nvGrpSpPr>
        <p:grpSpPr>
          <a:xfrm>
            <a:off x="8020741" y="1771985"/>
            <a:ext cx="3428553" cy="2571415"/>
            <a:chOff x="4758102" y="1849580"/>
            <a:chExt cx="3428553" cy="2571415"/>
          </a:xfrm>
        </p:grpSpPr>
        <p:grpSp>
          <p:nvGrpSpPr>
            <p:cNvPr id="3" name="Group 2">
              <a:extLst>
                <a:ext uri="{FF2B5EF4-FFF2-40B4-BE49-F238E27FC236}">
                  <a16:creationId xmlns:a16="http://schemas.microsoft.com/office/drawing/2014/main" id="{AFFC9EEE-D0A6-71F6-3567-810D26910636}"/>
                </a:ext>
              </a:extLst>
            </p:cNvPr>
            <p:cNvGrpSpPr/>
            <p:nvPr/>
          </p:nvGrpSpPr>
          <p:grpSpPr>
            <a:xfrm>
              <a:off x="4758102" y="1849580"/>
              <a:ext cx="3428553" cy="2571415"/>
              <a:chOff x="4821947" y="1810192"/>
              <a:chExt cx="3428553" cy="2571415"/>
            </a:xfrm>
          </p:grpSpPr>
          <p:pic>
            <p:nvPicPr>
              <p:cNvPr id="5" name="Picture 4">
                <a:extLst>
                  <a:ext uri="{FF2B5EF4-FFF2-40B4-BE49-F238E27FC236}">
                    <a16:creationId xmlns:a16="http://schemas.microsoft.com/office/drawing/2014/main" id="{60AD0CFD-5523-7163-8A92-EA7D8E028F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21947" y="1810192"/>
                <a:ext cx="3428553" cy="2571415"/>
              </a:xfrm>
              <a:prstGeom prst="rect">
                <a:avLst/>
              </a:prstGeom>
            </p:spPr>
          </p:pic>
          <p:cxnSp>
            <p:nvCxnSpPr>
              <p:cNvPr id="11" name="Straight Connector 10">
                <a:extLst>
                  <a:ext uri="{FF2B5EF4-FFF2-40B4-BE49-F238E27FC236}">
                    <a16:creationId xmlns:a16="http://schemas.microsoft.com/office/drawing/2014/main" id="{DE3642A5-9809-1B94-A037-62DBBA01D628}"/>
                  </a:ext>
                </a:extLst>
              </p:cNvPr>
              <p:cNvCxnSpPr/>
              <p:nvPr/>
            </p:nvCxnSpPr>
            <p:spPr>
              <a:xfrm>
                <a:off x="7989737" y="2191087"/>
                <a:ext cx="25632" cy="19629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333371E-FD9A-E7BC-4EB3-C75AD4C8531E}"/>
                  </a:ext>
                </a:extLst>
              </p:cNvPr>
              <p:cNvCxnSpPr/>
              <p:nvPr/>
            </p:nvCxnSpPr>
            <p:spPr>
              <a:xfrm>
                <a:off x="5319727" y="2191087"/>
                <a:ext cx="25632" cy="19629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D9162F54-567E-4E58-D88F-DCD96EA732C2}"/>
                  </a:ext>
                </a:extLst>
              </p:cNvPr>
              <p:cNvSpPr txBox="1"/>
              <p:nvPr/>
            </p:nvSpPr>
            <p:spPr>
              <a:xfrm>
                <a:off x="5411968" y="2086903"/>
                <a:ext cx="758732"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0000"/>
                    </a:solidFill>
                    <a:effectLst/>
                    <a:uLnTx/>
                    <a:uFillTx/>
                    <a:latin typeface="Arial"/>
                    <a:ea typeface="+mn-ea"/>
                    <a:cs typeface="+mn-cs"/>
                  </a:rPr>
                  <a:t>-4.14</a:t>
                </a:r>
              </a:p>
            </p:txBody>
          </p:sp>
          <p:sp>
            <p:nvSpPr>
              <p:cNvPr id="16" name="TextBox 15">
                <a:extLst>
                  <a:ext uri="{FF2B5EF4-FFF2-40B4-BE49-F238E27FC236}">
                    <a16:creationId xmlns:a16="http://schemas.microsoft.com/office/drawing/2014/main" id="{03F58B38-9DA2-4A67-1566-1336D896D259}"/>
                  </a:ext>
                </a:extLst>
              </p:cNvPr>
              <p:cNvSpPr txBox="1"/>
              <p:nvPr/>
            </p:nvSpPr>
            <p:spPr>
              <a:xfrm>
                <a:off x="7424855" y="2017402"/>
                <a:ext cx="758732"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0000"/>
                    </a:solidFill>
                    <a:effectLst/>
                    <a:uLnTx/>
                    <a:uFillTx/>
                    <a:latin typeface="Arial"/>
                    <a:ea typeface="+mn-ea"/>
                    <a:cs typeface="+mn-cs"/>
                  </a:rPr>
                  <a:t>4.14</a:t>
                </a:r>
              </a:p>
            </p:txBody>
          </p:sp>
        </p:gr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CB5203E-A64E-B14D-9FA5-99F800914E53}"/>
                    </a:ext>
                  </a:extLst>
                </p:cNvPr>
                <p:cNvSpPr txBox="1"/>
                <p:nvPr/>
              </p:nvSpPr>
              <p:spPr>
                <a:xfrm>
                  <a:off x="7021832" y="2488902"/>
                  <a:ext cx="821827"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acc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𝑋</m:t>
                                </m:r>
                              </m:e>
                            </m:acc>
                          </m:e>
                          <m: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𝐼</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acc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𝑋</m:t>
                                </m:r>
                              </m:e>
                            </m:acc>
                          </m:e>
                          <m: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𝐸</m:t>
                            </m:r>
                          </m:sub>
                        </m:sSub>
                      </m:oMath>
                    </m:oMathPara>
                  </a14:m>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7021832" y="2488902"/>
                  <a:ext cx="821827" cy="276999"/>
                </a:xfrm>
                <a:prstGeom prst="rect">
                  <a:avLst/>
                </a:prstGeom>
                <a:blipFill>
                  <a:blip r:embed="rId5"/>
                  <a:stretch>
                    <a:fillRect l="-4545" b="-22727"/>
                  </a:stretch>
                </a:blipFill>
              </p:spPr>
              <p:txBody>
                <a:bodyPr/>
                <a:lstStyle/>
                <a:p>
                  <a:r>
                    <a:rPr lang="en-US">
                      <a:noFill/>
                    </a:rPr>
                    <a:t> </a:t>
                  </a:r>
                </a:p>
              </p:txBody>
            </p:sp>
          </mc:Fallback>
        </mc:AlternateContent>
      </p:grpSp>
      <p:graphicFrame>
        <p:nvGraphicFramePr>
          <p:cNvPr id="17" name="Table 16">
            <a:extLst>
              <a:ext uri="{FF2B5EF4-FFF2-40B4-BE49-F238E27FC236}">
                <a16:creationId xmlns:a16="http://schemas.microsoft.com/office/drawing/2014/main" id="{D319BA51-C1DC-2176-3D45-BC92D05DC677}"/>
              </a:ext>
            </a:extLst>
          </p:cNvPr>
          <p:cNvGraphicFramePr>
            <a:graphicFrameLocks noGrp="1"/>
          </p:cNvGraphicFramePr>
          <p:nvPr/>
        </p:nvGraphicFramePr>
        <p:xfrm>
          <a:off x="5705936" y="4427644"/>
          <a:ext cx="6094959" cy="919606"/>
        </p:xfrm>
        <a:graphic>
          <a:graphicData uri="http://schemas.openxmlformats.org/drawingml/2006/table">
            <a:tbl>
              <a:tblPr/>
              <a:tblGrid>
                <a:gridCol w="468843">
                  <a:extLst>
                    <a:ext uri="{9D8B030D-6E8A-4147-A177-3AD203B41FA5}">
                      <a16:colId xmlns:a16="http://schemas.microsoft.com/office/drawing/2014/main" val="4191927114"/>
                    </a:ext>
                  </a:extLst>
                </a:gridCol>
                <a:gridCol w="468843">
                  <a:extLst>
                    <a:ext uri="{9D8B030D-6E8A-4147-A177-3AD203B41FA5}">
                      <a16:colId xmlns:a16="http://schemas.microsoft.com/office/drawing/2014/main" val="1553062055"/>
                    </a:ext>
                  </a:extLst>
                </a:gridCol>
                <a:gridCol w="468843">
                  <a:extLst>
                    <a:ext uri="{9D8B030D-6E8A-4147-A177-3AD203B41FA5}">
                      <a16:colId xmlns:a16="http://schemas.microsoft.com/office/drawing/2014/main" val="2029518455"/>
                    </a:ext>
                  </a:extLst>
                </a:gridCol>
                <a:gridCol w="468843">
                  <a:extLst>
                    <a:ext uri="{9D8B030D-6E8A-4147-A177-3AD203B41FA5}">
                      <a16:colId xmlns:a16="http://schemas.microsoft.com/office/drawing/2014/main" val="2610139692"/>
                    </a:ext>
                  </a:extLst>
                </a:gridCol>
                <a:gridCol w="468843">
                  <a:extLst>
                    <a:ext uri="{9D8B030D-6E8A-4147-A177-3AD203B41FA5}">
                      <a16:colId xmlns:a16="http://schemas.microsoft.com/office/drawing/2014/main" val="2317417545"/>
                    </a:ext>
                  </a:extLst>
                </a:gridCol>
                <a:gridCol w="468843">
                  <a:extLst>
                    <a:ext uri="{9D8B030D-6E8A-4147-A177-3AD203B41FA5}">
                      <a16:colId xmlns:a16="http://schemas.microsoft.com/office/drawing/2014/main" val="2506100888"/>
                    </a:ext>
                  </a:extLst>
                </a:gridCol>
                <a:gridCol w="468843">
                  <a:extLst>
                    <a:ext uri="{9D8B030D-6E8A-4147-A177-3AD203B41FA5}">
                      <a16:colId xmlns:a16="http://schemas.microsoft.com/office/drawing/2014/main" val="2487611535"/>
                    </a:ext>
                  </a:extLst>
                </a:gridCol>
                <a:gridCol w="468843">
                  <a:extLst>
                    <a:ext uri="{9D8B030D-6E8A-4147-A177-3AD203B41FA5}">
                      <a16:colId xmlns:a16="http://schemas.microsoft.com/office/drawing/2014/main" val="2827583647"/>
                    </a:ext>
                  </a:extLst>
                </a:gridCol>
                <a:gridCol w="468843">
                  <a:extLst>
                    <a:ext uri="{9D8B030D-6E8A-4147-A177-3AD203B41FA5}">
                      <a16:colId xmlns:a16="http://schemas.microsoft.com/office/drawing/2014/main" val="3294642459"/>
                    </a:ext>
                  </a:extLst>
                </a:gridCol>
                <a:gridCol w="468843">
                  <a:extLst>
                    <a:ext uri="{9D8B030D-6E8A-4147-A177-3AD203B41FA5}">
                      <a16:colId xmlns:a16="http://schemas.microsoft.com/office/drawing/2014/main" val="994415506"/>
                    </a:ext>
                  </a:extLst>
                </a:gridCol>
                <a:gridCol w="468843">
                  <a:extLst>
                    <a:ext uri="{9D8B030D-6E8A-4147-A177-3AD203B41FA5}">
                      <a16:colId xmlns:a16="http://schemas.microsoft.com/office/drawing/2014/main" val="2274080700"/>
                    </a:ext>
                  </a:extLst>
                </a:gridCol>
                <a:gridCol w="468843">
                  <a:extLst>
                    <a:ext uri="{9D8B030D-6E8A-4147-A177-3AD203B41FA5}">
                      <a16:colId xmlns:a16="http://schemas.microsoft.com/office/drawing/2014/main" val="3211500598"/>
                    </a:ext>
                  </a:extLst>
                </a:gridCol>
                <a:gridCol w="468843">
                  <a:extLst>
                    <a:ext uri="{9D8B030D-6E8A-4147-A177-3AD203B41FA5}">
                      <a16:colId xmlns:a16="http://schemas.microsoft.com/office/drawing/2014/main" val="3893925110"/>
                    </a:ext>
                  </a:extLst>
                </a:gridCol>
              </a:tblGrid>
              <a:tr h="201638">
                <a:tc>
                  <a:txBody>
                    <a:bodyPr/>
                    <a:lstStyle/>
                    <a:p>
                      <a:pPr algn="r" fontAlgn="t"/>
                      <a:r>
                        <a:rPr lang="en-US" sz="400" b="1" i="0" dirty="0">
                          <a:solidFill>
                            <a:srgbClr val="112277"/>
                          </a:solidFill>
                          <a:effectLst/>
                          <a:latin typeface="Arial" panose="020B0604020202020204" pitchFamily="34" charset="0"/>
                        </a:rPr>
                        <a:t>Obs</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l" fontAlgn="t"/>
                      <a:r>
                        <a:rPr lang="en-US" sz="400" b="1" i="0" dirty="0">
                          <a:solidFill>
                            <a:srgbClr val="112277"/>
                          </a:solidFill>
                          <a:effectLst/>
                          <a:latin typeface="Arial" panose="020B0604020202020204" pitchFamily="34" charset="0"/>
                        </a:rPr>
                        <a:t>Variable</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DF2F9"/>
                    </a:solidFill>
                  </a:tcPr>
                </a:tc>
                <a:tc>
                  <a:txBody>
                    <a:bodyPr/>
                    <a:lstStyle/>
                    <a:p>
                      <a:pPr algn="l" fontAlgn="t"/>
                      <a:r>
                        <a:rPr lang="en-US" sz="400" b="1" i="0" dirty="0">
                          <a:solidFill>
                            <a:srgbClr val="112277"/>
                          </a:solidFill>
                          <a:effectLst/>
                          <a:latin typeface="Arial" panose="020B0604020202020204" pitchFamily="34" charset="0"/>
                        </a:rPr>
                        <a:t>Class</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DF2F9"/>
                    </a:solidFill>
                  </a:tcPr>
                </a:tc>
                <a:tc>
                  <a:txBody>
                    <a:bodyPr/>
                    <a:lstStyle/>
                    <a:p>
                      <a:pPr algn="l" fontAlgn="t"/>
                      <a:r>
                        <a:rPr lang="en-US" sz="400" b="1" i="0" dirty="0">
                          <a:solidFill>
                            <a:srgbClr val="112277"/>
                          </a:solidFill>
                          <a:effectLst/>
                          <a:latin typeface="Arial" panose="020B0604020202020204" pitchFamily="34" charset="0"/>
                        </a:rPr>
                        <a:t>Method</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DF2F9"/>
                    </a:solidFill>
                  </a:tcPr>
                </a:tc>
                <a:tc>
                  <a:txBody>
                    <a:bodyPr/>
                    <a:lstStyle/>
                    <a:p>
                      <a:pPr algn="l" fontAlgn="t"/>
                      <a:r>
                        <a:rPr lang="en-US" sz="400" b="1" i="0" dirty="0">
                          <a:solidFill>
                            <a:srgbClr val="112277"/>
                          </a:solidFill>
                          <a:effectLst/>
                          <a:latin typeface="Arial" panose="020B0604020202020204" pitchFamily="34" charset="0"/>
                        </a:rPr>
                        <a:t>Variances</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DF2F9"/>
                    </a:solidFill>
                  </a:tcPr>
                </a:tc>
                <a:tc>
                  <a:txBody>
                    <a:bodyPr/>
                    <a:lstStyle/>
                    <a:p>
                      <a:pPr algn="r" fontAlgn="t"/>
                      <a:r>
                        <a:rPr lang="en-US" sz="400" b="1" i="0" dirty="0">
                          <a:solidFill>
                            <a:srgbClr val="112277"/>
                          </a:solidFill>
                          <a:effectLst/>
                          <a:latin typeface="Arial" panose="020B0604020202020204" pitchFamily="34" charset="0"/>
                        </a:rPr>
                        <a:t>Mean</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DF2F9"/>
                    </a:solidFill>
                  </a:tcPr>
                </a:tc>
                <a:tc>
                  <a:txBody>
                    <a:bodyPr/>
                    <a:lstStyle/>
                    <a:p>
                      <a:pPr algn="r" fontAlgn="t"/>
                      <a:r>
                        <a:rPr lang="en-US" sz="400" b="1" i="0" dirty="0">
                          <a:solidFill>
                            <a:srgbClr val="112277"/>
                          </a:solidFill>
                          <a:effectLst/>
                          <a:latin typeface="Arial" panose="020B0604020202020204" pitchFamily="34" charset="0"/>
                        </a:rPr>
                        <a:t>LowerCLMean</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DF2F9"/>
                    </a:solidFill>
                  </a:tcPr>
                </a:tc>
                <a:tc>
                  <a:txBody>
                    <a:bodyPr/>
                    <a:lstStyle/>
                    <a:p>
                      <a:pPr algn="r" fontAlgn="t"/>
                      <a:r>
                        <a:rPr lang="en-US" sz="400" b="1" i="0" dirty="0">
                          <a:solidFill>
                            <a:srgbClr val="112277"/>
                          </a:solidFill>
                          <a:effectLst/>
                          <a:latin typeface="Arial" panose="020B0604020202020204" pitchFamily="34" charset="0"/>
                        </a:rPr>
                        <a:t>UpperCLMean</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DF2F9"/>
                    </a:solidFill>
                  </a:tcPr>
                </a:tc>
                <a:tc>
                  <a:txBody>
                    <a:bodyPr/>
                    <a:lstStyle/>
                    <a:p>
                      <a:pPr algn="r" fontAlgn="t"/>
                      <a:r>
                        <a:rPr lang="en-US" sz="400" b="1" i="0" dirty="0">
                          <a:solidFill>
                            <a:srgbClr val="112277"/>
                          </a:solidFill>
                          <a:effectLst/>
                          <a:latin typeface="Arial" panose="020B0604020202020204" pitchFamily="34" charset="0"/>
                        </a:rPr>
                        <a:t>StdDev</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DF2F9"/>
                    </a:solidFill>
                  </a:tcPr>
                </a:tc>
                <a:tc>
                  <a:txBody>
                    <a:bodyPr/>
                    <a:lstStyle/>
                    <a:p>
                      <a:pPr algn="r" fontAlgn="t"/>
                      <a:r>
                        <a:rPr lang="en-US" sz="400" b="1" i="0" dirty="0">
                          <a:solidFill>
                            <a:srgbClr val="112277"/>
                          </a:solidFill>
                          <a:effectLst/>
                          <a:latin typeface="Arial" panose="020B0604020202020204" pitchFamily="34" charset="0"/>
                        </a:rPr>
                        <a:t>LowerCLStdDev</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DF2F9"/>
                    </a:solidFill>
                  </a:tcPr>
                </a:tc>
                <a:tc>
                  <a:txBody>
                    <a:bodyPr/>
                    <a:lstStyle/>
                    <a:p>
                      <a:pPr algn="r" fontAlgn="t"/>
                      <a:r>
                        <a:rPr lang="en-US" sz="400" b="1" i="0" dirty="0">
                          <a:solidFill>
                            <a:srgbClr val="112277"/>
                          </a:solidFill>
                          <a:effectLst/>
                          <a:latin typeface="Arial" panose="020B0604020202020204" pitchFamily="34" charset="0"/>
                        </a:rPr>
                        <a:t>UpperCLStdDev</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DF2F9"/>
                    </a:solidFill>
                  </a:tcPr>
                </a:tc>
                <a:tc>
                  <a:txBody>
                    <a:bodyPr/>
                    <a:lstStyle/>
                    <a:p>
                      <a:pPr algn="r" fontAlgn="t"/>
                      <a:r>
                        <a:rPr lang="en-US" sz="400" b="1" i="0" dirty="0">
                          <a:solidFill>
                            <a:srgbClr val="112277"/>
                          </a:solidFill>
                          <a:effectLst/>
                          <a:latin typeface="Arial" panose="020B0604020202020204" pitchFamily="34" charset="0"/>
                        </a:rPr>
                        <a:t>UMPULowerCLStdDev</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DF2F9"/>
                    </a:solidFill>
                  </a:tcPr>
                </a:tc>
                <a:tc>
                  <a:txBody>
                    <a:bodyPr/>
                    <a:lstStyle/>
                    <a:p>
                      <a:pPr algn="r" fontAlgn="t"/>
                      <a:r>
                        <a:rPr lang="en-US" sz="400" b="1" i="0" dirty="0">
                          <a:solidFill>
                            <a:srgbClr val="112277"/>
                          </a:solidFill>
                          <a:effectLst/>
                          <a:latin typeface="Arial" panose="020B0604020202020204" pitchFamily="34" charset="0"/>
                        </a:rPr>
                        <a:t>UMPUUpperCLStdDev</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B0B7BB"/>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DF2F9"/>
                    </a:solidFill>
                  </a:tcPr>
                </a:tc>
                <a:extLst>
                  <a:ext uri="{0D108BD9-81ED-4DB2-BD59-A6C34878D82A}">
                    <a16:rowId xmlns:a16="http://schemas.microsoft.com/office/drawing/2014/main" val="3887241976"/>
                  </a:ext>
                </a:extLst>
              </a:tr>
              <a:tr h="89746">
                <a:tc>
                  <a:txBody>
                    <a:bodyPr/>
                    <a:lstStyle/>
                    <a:p>
                      <a:pPr algn="r" fontAlgn="t"/>
                      <a:r>
                        <a:rPr lang="en-US" sz="400" b="1" i="0" dirty="0">
                          <a:solidFill>
                            <a:srgbClr val="112277"/>
                          </a:solidFill>
                          <a:effectLst/>
                          <a:latin typeface="Arial" panose="020B0604020202020204" pitchFamily="34" charset="0"/>
                        </a:rPr>
                        <a:t>1</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l" fontAlgn="t"/>
                      <a:r>
                        <a:rPr lang="en-US" sz="400" b="0" i="0" dirty="0">
                          <a:effectLst/>
                          <a:latin typeface="Arial" panose="020B0604020202020204" pitchFamily="34" charset="0"/>
                        </a:rPr>
                        <a:t>COL139</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Diff (1-2)</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Pooled</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Equal</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4.4678</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1.6594</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7.2762</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4.7786</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3.9635</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6.0187</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3.9360</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5.9708</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extLst>
                  <a:ext uri="{0D108BD9-81ED-4DB2-BD59-A6C34878D82A}">
                    <a16:rowId xmlns:a16="http://schemas.microsoft.com/office/drawing/2014/main" val="33396356"/>
                  </a:ext>
                </a:extLst>
              </a:tr>
              <a:tr h="89746">
                <a:tc>
                  <a:txBody>
                    <a:bodyPr/>
                    <a:lstStyle/>
                    <a:p>
                      <a:pPr algn="r" fontAlgn="t"/>
                      <a:r>
                        <a:rPr lang="en-US" sz="400" b="1" i="0" dirty="0">
                          <a:solidFill>
                            <a:srgbClr val="112277"/>
                          </a:solidFill>
                          <a:effectLst/>
                          <a:latin typeface="Arial" panose="020B0604020202020204" pitchFamily="34" charset="0"/>
                        </a:rPr>
                        <a:t>2</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l" fontAlgn="t"/>
                      <a:r>
                        <a:rPr lang="en-US" sz="400" b="0" i="0" dirty="0">
                          <a:effectLst/>
                          <a:latin typeface="Arial" panose="020B0604020202020204" pitchFamily="34" charset="0"/>
                        </a:rPr>
                        <a:t>COL170</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Diff (1-2)</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Pooled</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Equal</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-4.3192</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-7.1485</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-1.4899</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4.8141</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3.9930</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6.0634</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3.9653</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6.0152</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extLst>
                  <a:ext uri="{0D108BD9-81ED-4DB2-BD59-A6C34878D82A}">
                    <a16:rowId xmlns:a16="http://schemas.microsoft.com/office/drawing/2014/main" val="3304942309"/>
                  </a:ext>
                </a:extLst>
              </a:tr>
              <a:tr h="89746">
                <a:tc>
                  <a:txBody>
                    <a:bodyPr/>
                    <a:lstStyle/>
                    <a:p>
                      <a:pPr algn="r" fontAlgn="t"/>
                      <a:r>
                        <a:rPr lang="en-US" sz="400" b="1" i="0" dirty="0">
                          <a:solidFill>
                            <a:srgbClr val="112277"/>
                          </a:solidFill>
                          <a:effectLst/>
                          <a:latin typeface="Arial" panose="020B0604020202020204" pitchFamily="34" charset="0"/>
                        </a:rPr>
                        <a:t>3</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l" fontAlgn="t"/>
                      <a:r>
                        <a:rPr lang="en-US" sz="400" b="0" i="0" dirty="0">
                          <a:effectLst/>
                          <a:latin typeface="Arial" panose="020B0604020202020204" pitchFamily="34" charset="0"/>
                        </a:rPr>
                        <a:t>COL279</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Diff (1-2)</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Pooled</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Equal</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-4.5576</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-7.3530</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-1.7623</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4.7564</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3.9451</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5.9908</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3.9178</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5.9430</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extLst>
                  <a:ext uri="{0D108BD9-81ED-4DB2-BD59-A6C34878D82A}">
                    <a16:rowId xmlns:a16="http://schemas.microsoft.com/office/drawing/2014/main" val="2242011884"/>
                  </a:ext>
                </a:extLst>
              </a:tr>
              <a:tr h="89746">
                <a:tc>
                  <a:txBody>
                    <a:bodyPr/>
                    <a:lstStyle/>
                    <a:p>
                      <a:pPr algn="r" fontAlgn="t"/>
                      <a:r>
                        <a:rPr lang="en-US" sz="400" b="1" i="0" dirty="0">
                          <a:solidFill>
                            <a:srgbClr val="112277"/>
                          </a:solidFill>
                          <a:effectLst/>
                          <a:latin typeface="Arial" panose="020B0604020202020204" pitchFamily="34" charset="0"/>
                        </a:rPr>
                        <a:t>4</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l" fontAlgn="t"/>
                      <a:r>
                        <a:rPr lang="en-US" sz="400" b="0" i="0" dirty="0">
                          <a:effectLst/>
                          <a:latin typeface="Arial" panose="020B0604020202020204" pitchFamily="34" charset="0"/>
                        </a:rPr>
                        <a:t>COL360</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Diff (1-2)</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Pooled</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Equal</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-4.8897</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-7.6340</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-2.1454</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4.6695</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3.8731</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5.8814</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3.8462</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5.8345</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extLst>
                  <a:ext uri="{0D108BD9-81ED-4DB2-BD59-A6C34878D82A}">
                    <a16:rowId xmlns:a16="http://schemas.microsoft.com/office/drawing/2014/main" val="1481434950"/>
                  </a:ext>
                </a:extLst>
              </a:tr>
              <a:tr h="89746">
                <a:tc>
                  <a:txBody>
                    <a:bodyPr/>
                    <a:lstStyle/>
                    <a:p>
                      <a:pPr algn="r" fontAlgn="t"/>
                      <a:r>
                        <a:rPr lang="en-US" sz="400" b="1" i="0" dirty="0">
                          <a:solidFill>
                            <a:srgbClr val="112277"/>
                          </a:solidFill>
                          <a:effectLst/>
                          <a:latin typeface="Arial" panose="020B0604020202020204" pitchFamily="34" charset="0"/>
                        </a:rPr>
                        <a:t>5</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l" fontAlgn="t"/>
                      <a:r>
                        <a:rPr lang="en-US" sz="400" b="0" i="0" dirty="0">
                          <a:effectLst/>
                          <a:latin typeface="Arial" panose="020B0604020202020204" pitchFamily="34" charset="0"/>
                        </a:rPr>
                        <a:t>COL537</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Diff (1-2)</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Pooled</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Equal</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4.3826</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1.5621</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7.2031</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4.7991</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3.9806</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6.0446</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3.9530</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5.9964</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extLst>
                  <a:ext uri="{0D108BD9-81ED-4DB2-BD59-A6C34878D82A}">
                    <a16:rowId xmlns:a16="http://schemas.microsoft.com/office/drawing/2014/main" val="2552476582"/>
                  </a:ext>
                </a:extLst>
              </a:tr>
              <a:tr h="89746">
                <a:tc>
                  <a:txBody>
                    <a:bodyPr/>
                    <a:lstStyle/>
                    <a:p>
                      <a:pPr algn="r" fontAlgn="t"/>
                      <a:r>
                        <a:rPr lang="en-US" sz="400" b="1" i="0" dirty="0">
                          <a:solidFill>
                            <a:srgbClr val="112277"/>
                          </a:solidFill>
                          <a:effectLst/>
                          <a:latin typeface="Arial" panose="020B0604020202020204" pitchFamily="34" charset="0"/>
                        </a:rPr>
                        <a:t>6</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l" fontAlgn="t"/>
                      <a:r>
                        <a:rPr lang="en-US" sz="400" b="0" i="0" dirty="0">
                          <a:effectLst/>
                          <a:latin typeface="Arial" panose="020B0604020202020204" pitchFamily="34" charset="0"/>
                        </a:rPr>
                        <a:t>COL551</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Diff (1-2)</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Pooled</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Equal</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-5.0514</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-7.7692</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-2.3337</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4.6243</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3.8356</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5.8245</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3.8090</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5.7781</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extLst>
                  <a:ext uri="{0D108BD9-81ED-4DB2-BD59-A6C34878D82A}">
                    <a16:rowId xmlns:a16="http://schemas.microsoft.com/office/drawing/2014/main" val="4237698156"/>
                  </a:ext>
                </a:extLst>
              </a:tr>
              <a:tr h="89746">
                <a:tc>
                  <a:txBody>
                    <a:bodyPr/>
                    <a:lstStyle/>
                    <a:p>
                      <a:pPr algn="r" fontAlgn="t"/>
                      <a:r>
                        <a:rPr lang="en-US" sz="400" b="1" i="0" dirty="0">
                          <a:solidFill>
                            <a:srgbClr val="112277"/>
                          </a:solidFill>
                          <a:effectLst/>
                          <a:latin typeface="Arial" panose="020B0604020202020204" pitchFamily="34" charset="0"/>
                        </a:rPr>
                        <a:t>7</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l" fontAlgn="t"/>
                      <a:r>
                        <a:rPr lang="en-US" sz="400" b="0" i="0" dirty="0">
                          <a:effectLst/>
                          <a:latin typeface="Arial" panose="020B0604020202020204" pitchFamily="34" charset="0"/>
                        </a:rPr>
                        <a:t>COL604</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Diff (1-2)</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Pooled</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Equal</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-4.7109</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-7.4832</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-1.9385</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4.7172</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3.9127</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5.9415</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3.8855</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5.8942</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extLst>
                  <a:ext uri="{0D108BD9-81ED-4DB2-BD59-A6C34878D82A}">
                    <a16:rowId xmlns:a16="http://schemas.microsoft.com/office/drawing/2014/main" val="726207768"/>
                  </a:ext>
                </a:extLst>
              </a:tr>
              <a:tr h="89746">
                <a:tc>
                  <a:txBody>
                    <a:bodyPr/>
                    <a:lstStyle/>
                    <a:p>
                      <a:pPr algn="r" fontAlgn="t"/>
                      <a:r>
                        <a:rPr lang="en-US" sz="400" b="1" i="0" dirty="0">
                          <a:solidFill>
                            <a:srgbClr val="112277"/>
                          </a:solidFill>
                          <a:effectLst/>
                          <a:latin typeface="Arial" panose="020B0604020202020204" pitchFamily="34" charset="0"/>
                        </a:rPr>
                        <a:t>8</a:t>
                      </a:r>
                    </a:p>
                  </a:txBody>
                  <a:tcPr marL="12441" marR="12441" marT="6220" marB="6220">
                    <a:lnL w="9525" cap="flat" cmpd="sng" algn="ctr">
                      <a:solidFill>
                        <a:srgbClr val="B0B7BB"/>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B0B7BB"/>
                      </a:solidFill>
                      <a:prstDash val="solid"/>
                      <a:round/>
                      <a:headEnd type="none" w="med" len="med"/>
                      <a:tailEnd type="none" w="med" len="med"/>
                    </a:lnT>
                    <a:lnB w="9525" cap="flat" cmpd="sng" algn="ctr">
                      <a:solidFill>
                        <a:srgbClr val="B0B7BB"/>
                      </a:solidFill>
                      <a:prstDash val="solid"/>
                      <a:round/>
                      <a:headEnd type="none" w="med" len="med"/>
                      <a:tailEnd type="none" w="med" len="med"/>
                    </a:lnB>
                    <a:solidFill>
                      <a:srgbClr val="EDF2F9"/>
                    </a:solidFill>
                  </a:tcPr>
                </a:tc>
                <a:tc>
                  <a:txBody>
                    <a:bodyPr/>
                    <a:lstStyle/>
                    <a:p>
                      <a:pPr algn="l" fontAlgn="t"/>
                      <a:r>
                        <a:rPr lang="en-US" sz="400" b="0" i="0" dirty="0">
                          <a:effectLst/>
                          <a:latin typeface="Arial" panose="020B0604020202020204" pitchFamily="34" charset="0"/>
                        </a:rPr>
                        <a:t>COL664</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Diff (1-2)</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Pooled</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n-US" sz="400" b="0" i="0" dirty="0">
                          <a:effectLst/>
                          <a:latin typeface="Arial" panose="020B0604020202020204" pitchFamily="34" charset="0"/>
                        </a:rPr>
                        <a:t>Equal</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4.6636</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1.8840</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7.4431</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4.7295</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3.9228</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5.9569</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3.8956</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r" fontAlgn="t"/>
                      <a:r>
                        <a:rPr lang="en-US" sz="400" b="0" i="0" dirty="0">
                          <a:effectLst/>
                          <a:latin typeface="Arial" panose="020B0604020202020204" pitchFamily="34" charset="0"/>
                        </a:rPr>
                        <a:t>5.9095</a:t>
                      </a:r>
                    </a:p>
                  </a:txBody>
                  <a:tcPr marL="12441" marR="12441" marT="6220" marB="622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extLst>
                  <a:ext uri="{0D108BD9-81ED-4DB2-BD59-A6C34878D82A}">
                    <a16:rowId xmlns:a16="http://schemas.microsoft.com/office/drawing/2014/main" val="623216107"/>
                  </a:ext>
                </a:extLst>
              </a:tr>
            </a:tbl>
          </a:graphicData>
        </a:graphic>
      </p:graphicFrame>
      <p:sp>
        <p:nvSpPr>
          <p:cNvPr id="6" name="TextBox 5">
            <a:extLst>
              <a:ext uri="{FF2B5EF4-FFF2-40B4-BE49-F238E27FC236}">
                <a16:creationId xmlns:a16="http://schemas.microsoft.com/office/drawing/2014/main" id="{80806072-3348-A486-1513-A9EA19E2EFEB}"/>
              </a:ext>
            </a:extLst>
          </p:cNvPr>
          <p:cNvSpPr txBox="1"/>
          <p:nvPr/>
        </p:nvSpPr>
        <p:spPr>
          <a:xfrm>
            <a:off x="146892" y="1731526"/>
            <a:ext cx="3053508" cy="37548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a:ea typeface="+mn-ea"/>
                <a:cs typeface="+mn-cs"/>
              </a:rPr>
              <a:t>Assumption: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The intrinsic / extrinsic treatment has no effect on creativity.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(The mean creativity score of the intrinsic group is equal to the mean score of the extrinsic group.)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a:ea typeface="+mn-ea"/>
                <a:cs typeface="+mn-cs"/>
              </a:rPr>
              <a:t>Evidence: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The difference in the mean from the sample that received the intrinsic motivation was 4.14 points higher than the mean from the sample that received the extrinsic motivation.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a:ea typeface="+mn-ea"/>
                <a:cs typeface="+mn-cs"/>
              </a:rPr>
              <a:t>Probability: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The estimated probability that a difference 4.14 or larger in sample mean scores would occur if there was not effect is .008. </a:t>
            </a:r>
          </a:p>
        </p:txBody>
      </p:sp>
      <p:sp>
        <p:nvSpPr>
          <p:cNvPr id="18" name="Right Arrow 17">
            <a:extLst>
              <a:ext uri="{FF2B5EF4-FFF2-40B4-BE49-F238E27FC236}">
                <a16:creationId xmlns:a16="http://schemas.microsoft.com/office/drawing/2014/main" id="{A7EEA5EC-9954-FBE3-4C71-6B1F7443644A}"/>
              </a:ext>
            </a:extLst>
          </p:cNvPr>
          <p:cNvSpPr/>
          <p:nvPr/>
        </p:nvSpPr>
        <p:spPr>
          <a:xfrm rot="10800000">
            <a:off x="2819400" y="4456040"/>
            <a:ext cx="554909" cy="3445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19" name="Rectangle 18">
            <a:extLst>
              <a:ext uri="{FF2B5EF4-FFF2-40B4-BE49-F238E27FC236}">
                <a16:creationId xmlns:a16="http://schemas.microsoft.com/office/drawing/2014/main" id="{2E29F4C2-E6EB-CFBF-1156-413D94B99553}"/>
              </a:ext>
            </a:extLst>
          </p:cNvPr>
          <p:cNvSpPr/>
          <p:nvPr/>
        </p:nvSpPr>
        <p:spPr>
          <a:xfrm>
            <a:off x="5791874" y="3760898"/>
            <a:ext cx="2279722"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P-value = 8/1000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              = 0.008</a:t>
            </a:r>
          </a:p>
        </p:txBody>
      </p:sp>
    </p:spTree>
    <p:extLst>
      <p:ext uri="{BB962C8B-B14F-4D97-AF65-F5344CB8AC3E}">
        <p14:creationId xmlns:p14="http://schemas.microsoft.com/office/powerpoint/2010/main" val="2587743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animEffect transition="in" filter="fade">
                                      <p:cBhvr>
                                        <p:cTn id="7" dur="500"/>
                                        <p:tgtEl>
                                          <p:spTgt spid="6">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childTnLst>
                                </p:cTn>
                              </p:par>
                              <p:par>
                                <p:cTn id="48" presetID="10" presetClass="entr" presetSubtype="0" fill="hold" nodeType="withEffect">
                                  <p:stCondLst>
                                    <p:cond delay="0"/>
                                  </p:stCondLst>
                                  <p:childTnLst>
                                    <p:set>
                                      <p:cBhvr>
                                        <p:cTn id="49" dur="1" fill="hold">
                                          <p:stCondLst>
                                            <p:cond delay="0"/>
                                          </p:stCondLst>
                                        </p:cTn>
                                        <p:tgtEl>
                                          <p:spTgt spid="6">
                                            <p:txEl>
                                              <p:pRg st="6" end="6"/>
                                            </p:txEl>
                                          </p:spTgt>
                                        </p:tgtEl>
                                        <p:attrNameLst>
                                          <p:attrName>style.visibility</p:attrName>
                                        </p:attrNameLst>
                                      </p:cBhvr>
                                      <p:to>
                                        <p:strVal val="visible"/>
                                      </p:to>
                                    </p:set>
                                    <p:animEffect transition="in" filter="fade">
                                      <p:cBhvr>
                                        <p:cTn id="50" dur="500"/>
                                        <p:tgtEl>
                                          <p:spTgt spid="6">
                                            <p:txEl>
                                              <p:pRg st="6" end="6"/>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p:bldP spid="13" grpId="0"/>
      <p:bldP spid="18" grpId="0" animBg="1"/>
      <p:bldP spid="1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90882-D422-71DA-2852-7006183D26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BDAEBE-6F7C-F6B4-AB35-E611BF7761C5}"/>
              </a:ext>
            </a:extLst>
          </p:cNvPr>
          <p:cNvSpPr>
            <a:spLocks noGrp="1"/>
          </p:cNvSpPr>
          <p:nvPr>
            <p:ph type="title"/>
          </p:nvPr>
        </p:nvSpPr>
        <p:spPr/>
        <p:txBody>
          <a:bodyPr/>
          <a:lstStyle/>
          <a:p>
            <a:r>
              <a:rPr lang="en-US" dirty="0"/>
              <a:t>Creativity Study</a:t>
            </a:r>
          </a:p>
        </p:txBody>
      </p:sp>
      <p:sp>
        <p:nvSpPr>
          <p:cNvPr id="6" name="TextBox 5">
            <a:extLst>
              <a:ext uri="{FF2B5EF4-FFF2-40B4-BE49-F238E27FC236}">
                <a16:creationId xmlns:a16="http://schemas.microsoft.com/office/drawing/2014/main" id="{01352AC1-B7FC-FE68-0D5E-2C72DE487C35}"/>
              </a:ext>
            </a:extLst>
          </p:cNvPr>
          <p:cNvSpPr txBox="1"/>
          <p:nvPr/>
        </p:nvSpPr>
        <p:spPr>
          <a:xfrm>
            <a:off x="136634" y="1676400"/>
            <a:ext cx="11876690" cy="45243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Assumption: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The intrinsic / extrinsic treatment has no effect on creativity.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(The mean creativity score of the intrinsic group is equal to the mean score of the extrinsic group.)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Evidence: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The difference in the mean from the sample that received the intrinsic motivation was 4.14 points higher than the mean from the sample that received the extrinsic motivation.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Probability: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latin typeface="Arial"/>
              </a:rPr>
              <a:t>The probability is very small (</a:t>
            </a:r>
            <a:r>
              <a:rPr lang="en-US" dirty="0" err="1">
                <a:solidFill>
                  <a:srgbClr val="000000"/>
                </a:solidFill>
                <a:latin typeface="Arial"/>
              </a:rPr>
              <a:t>approx</a:t>
            </a:r>
            <a:r>
              <a:rPr lang="en-US" dirty="0">
                <a:solidFill>
                  <a:srgbClr val="000000"/>
                </a:solidFill>
                <a:latin typeface="Arial"/>
              </a:rPr>
              <a:t> .8%) that we would observe something as rare as 4.14 if the true are equal. </a:t>
            </a:r>
            <a:endParaRPr kumimoji="0" lang="en-US" sz="1800" i="0" u="none" strike="noStrike" kern="1200" cap="none" spc="0" normalizeH="0" baseline="0" noProof="0" dirty="0">
              <a:ln>
                <a:noFill/>
              </a:ln>
              <a:solidFill>
                <a:srgbClr val="000000"/>
              </a:solidFill>
              <a:effectLst/>
              <a:uLnTx/>
              <a:uFillTx/>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Arial"/>
              </a:rPr>
              <a:t>Decision: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latin typeface="Arial"/>
              </a:rPr>
              <a:t>Reject Ho: the means are equal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000000"/>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Arial"/>
              </a:rPr>
              <a:t>Conclusion: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latin typeface="Arial"/>
              </a:rPr>
              <a:t>There is strong evidence to suggest that the means are different (</a:t>
            </a:r>
            <a:r>
              <a:rPr lang="en-US" dirty="0" err="1">
                <a:solidFill>
                  <a:srgbClr val="000000"/>
                </a:solidFill>
                <a:latin typeface="Arial"/>
              </a:rPr>
              <a:t>pvalue</a:t>
            </a:r>
            <a:r>
              <a:rPr lang="en-US" dirty="0">
                <a:solidFill>
                  <a:srgbClr val="000000"/>
                </a:solidFill>
                <a:latin typeface="Arial"/>
              </a:rPr>
              <a:t> = .008).</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040690F-D7D3-89C6-5DAD-2BE2741B1A21}"/>
                  </a:ext>
                </a:extLst>
              </p:cNvPr>
              <p:cNvSpPr txBox="1"/>
              <p:nvPr/>
            </p:nvSpPr>
            <p:spPr>
              <a:xfrm>
                <a:off x="7543800" y="1524000"/>
                <a:ext cx="195320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𝐻</m:t>
                        </m:r>
                      </m:e>
                      <m:sub>
                        <m:r>
                          <a:rPr kumimoji="0" lang="en-US" sz="1800" b="0" i="1" u="none" strike="noStrike" kern="1200" cap="none" spc="0" normalizeH="0" baseline="0" noProof="0">
                            <a:ln>
                              <a:noFill/>
                            </a:ln>
                            <a:solidFill>
                              <a:srgbClr val="000000"/>
                            </a:solidFill>
                            <a:effectLst/>
                            <a:uLnTx/>
                            <a:uFillTx/>
                            <a:latin typeface="Cambria Math" charset="0"/>
                            <a:ea typeface="+mn-ea"/>
                            <a:cs typeface="+mn-cs"/>
                          </a:rPr>
                          <m:t>0: </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𝜇</m:t>
                        </m:r>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𝐼</m:t>
                        </m:r>
                      </m:sub>
                    </m:sSub>
                  </m:oMath>
                </a14:m>
                <a:r>
                  <a:rPr kumimoji="0" lang="en-US" sz="1800" b="0" i="0" u="none" strike="noStrike" kern="1200" cap="none" spc="0" normalizeH="0" baseline="0" noProof="0" dirty="0">
                    <a:ln>
                      <a:noFill/>
                    </a:ln>
                    <a:solidFill>
                      <a:srgbClr val="000000"/>
                    </a:solidFill>
                    <a:effectLst/>
                    <a:uLnTx/>
                    <a:uFillTx/>
                    <a:latin typeface="Arial"/>
                    <a:ea typeface="+mn-ea"/>
                    <a:cs typeface="+mn-cs"/>
                  </a:rPr>
                  <a:t> -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𝜇</m:t>
                        </m:r>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𝐸</m:t>
                        </m:r>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 </m:t>
                        </m:r>
                      </m:sub>
                    </m:s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=0</m:t>
                    </m:r>
                  </m:oMath>
                </a14:m>
                <a:endParaRPr kumimoji="0" lang="en-US" sz="1800" b="0" i="0" u="none" strike="noStrike" kern="1200" cap="none" spc="0" normalizeH="0" baseline="0" noProof="0" dirty="0">
                  <a:ln>
                    <a:noFill/>
                  </a:ln>
                  <a:solidFill>
                    <a:srgbClr val="000000"/>
                  </a:solidFill>
                  <a:effectLst/>
                  <a:uLnTx/>
                  <a:uFillTx/>
                  <a:latin typeface="Arial"/>
                  <a:ea typeface="Cambria Math" charset="0"/>
                  <a:cs typeface="Cambria Math"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𝐻</m:t>
                        </m:r>
                      </m:e>
                      <m:sub>
                        <m:r>
                          <a:rPr kumimoji="0" lang="en-US" sz="1800" b="0" i="1" u="none" strike="noStrike" kern="1200" cap="none" spc="0" normalizeH="0" baseline="0" noProof="0">
                            <a:ln>
                              <a:noFill/>
                            </a:ln>
                            <a:solidFill>
                              <a:srgbClr val="000000"/>
                            </a:solidFill>
                            <a:effectLst/>
                            <a:uLnTx/>
                            <a:uFillTx/>
                            <a:latin typeface="Cambria Math" charset="0"/>
                            <a:ea typeface="+mn-ea"/>
                            <a:cs typeface="+mn-cs"/>
                          </a:rPr>
                          <m:t>𝐴</m:t>
                        </m:r>
                        <m:r>
                          <a:rPr kumimoji="0" lang="en-US" sz="1800" b="0" i="1" u="none" strike="noStrike" kern="1200" cap="none" spc="0" normalizeH="0" baseline="0" noProof="0">
                            <a:ln>
                              <a:noFill/>
                            </a:ln>
                            <a:solidFill>
                              <a:srgbClr val="000000"/>
                            </a:solidFill>
                            <a:effectLst/>
                            <a:uLnTx/>
                            <a:uFillTx/>
                            <a:latin typeface="Cambria Math" charset="0"/>
                            <a:ea typeface="+mn-ea"/>
                            <a:cs typeface="+mn-cs"/>
                          </a:rPr>
                          <m:t>: </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𝜇</m:t>
                        </m:r>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𝐼</m:t>
                        </m:r>
                      </m:sub>
                    </m:sSub>
                  </m:oMath>
                </a14:m>
                <a:r>
                  <a:rPr kumimoji="0" lang="en-US" sz="1800" b="0" i="0" u="none" strike="noStrike" kern="1200" cap="none" spc="0" normalizeH="0" baseline="0" noProof="0" dirty="0">
                    <a:ln>
                      <a:noFill/>
                    </a:ln>
                    <a:solidFill>
                      <a:srgbClr val="000000"/>
                    </a:solidFill>
                    <a:effectLst/>
                    <a:uLnTx/>
                    <a:uFillTx/>
                    <a:latin typeface="Arial"/>
                    <a:ea typeface="+mn-ea"/>
                    <a:cs typeface="+mn-cs"/>
                  </a:rPr>
                  <a:t> - </a:t>
                </a:r>
                <a14:m>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𝜇</m:t>
                        </m:r>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𝐸</m:t>
                        </m:r>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 </m:t>
                        </m:r>
                      </m:sub>
                    </m:sSub>
                    <m:r>
                      <a:rPr kumimoji="0" lang="en-US" sz="1800" b="0" i="1" u="none" strike="noStrike" kern="1200" cap="none" spc="0" normalizeH="0" baseline="0" noProof="0" dirty="0">
                        <a:ln>
                          <a:noFill/>
                        </a:ln>
                        <a:solidFill>
                          <a:srgbClr val="000000"/>
                        </a:solidFill>
                        <a:effectLst/>
                        <a:uLnTx/>
                        <a:uFillTx/>
                        <a:latin typeface="Cambria Math" charset="0"/>
                        <a:ea typeface="Cambria Math" charset="0"/>
                        <a:cs typeface="Cambria Math" charset="0"/>
                      </a:rPr>
                      <m:t>≠</m:t>
                    </m:r>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0</m:t>
                    </m:r>
                  </m:oMath>
                </a14:m>
                <a:endParaRPr kumimoji="0" lang="en-US" sz="1800" b="0" i="0" u="none" strike="noStrike" kern="1200" cap="none" spc="0" normalizeH="0" baseline="0" noProof="0" dirty="0">
                  <a:ln>
                    <a:noFill/>
                  </a:ln>
                  <a:solidFill>
                    <a:srgbClr val="000000"/>
                  </a:solidFill>
                  <a:effectLst/>
                  <a:uLnTx/>
                  <a:uFillTx/>
                  <a:latin typeface="Arial"/>
                  <a:ea typeface="Cambria Math" charset="0"/>
                  <a:cs typeface="Cambria Math" charset="0"/>
                </a:endParaRPr>
              </a:p>
            </p:txBody>
          </p:sp>
        </mc:Choice>
        <mc:Fallback xmlns="">
          <p:sp>
            <p:nvSpPr>
              <p:cNvPr id="19" name="TextBox 18">
                <a:extLst>
                  <a:ext uri="{FF2B5EF4-FFF2-40B4-BE49-F238E27FC236}">
                    <a16:creationId xmlns:a16="http://schemas.microsoft.com/office/drawing/2014/main" id="{026CF454-9DBA-9740-BDF0-C9B56DA2976C}"/>
                  </a:ext>
                </a:extLst>
              </p:cNvPr>
              <p:cNvSpPr txBox="1">
                <a:spLocks noRot="1" noChangeAspect="1" noMove="1" noResize="1" noEditPoints="1" noAdjustHandles="1" noChangeArrowheads="1" noChangeShapeType="1" noTextEdit="1"/>
              </p:cNvSpPr>
              <p:nvPr/>
            </p:nvSpPr>
            <p:spPr>
              <a:xfrm>
                <a:off x="7543800" y="1524000"/>
                <a:ext cx="1953202" cy="646331"/>
              </a:xfrm>
              <a:prstGeom prst="rect">
                <a:avLst/>
              </a:prstGeom>
              <a:blipFill>
                <a:blip r:embed="rId2"/>
                <a:stretch>
                  <a:fillRect t="-3922" b="-137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2B84E643-379C-6D3D-46BE-D0259797F22B}"/>
                  </a:ext>
                </a:extLst>
              </p:cNvPr>
              <p:cNvSpPr/>
              <p:nvPr/>
            </p:nvSpPr>
            <p:spPr>
              <a:xfrm>
                <a:off x="6812818" y="3429000"/>
                <a:ext cx="1782347"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charset="0"/>
                            <a:cs typeface="Cambria Math" charset="0"/>
                          </a:rPr>
                        </m:ctrlPr>
                      </m:sSubPr>
                      <m:e>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charset="0"/>
                                <a:cs typeface="Cambria Math" charset="0"/>
                              </a:rPr>
                            </m:ctrlPr>
                          </m:acc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charset="0"/>
                                <a:cs typeface="Cambria Math" charset="0"/>
                              </a:rPr>
                              <m:t>𝑋</m:t>
                            </m:r>
                          </m:e>
                        </m:acc>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𝐼</m:t>
                        </m:r>
                      </m:sub>
                    </m:s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charset="0"/>
                            <a:cs typeface="Cambria Math" charset="0"/>
                          </a:rPr>
                        </m:ctrlPr>
                      </m:sSubPr>
                      <m:e>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charset="0"/>
                                <a:cs typeface="Cambria Math" charset="0"/>
                              </a:rPr>
                            </m:ctrlPr>
                          </m:acc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charset="0"/>
                                <a:cs typeface="Cambria Math" charset="0"/>
                              </a:rPr>
                              <m:t>𝑋</m:t>
                            </m:r>
                          </m:e>
                        </m:acc>
                      </m:e>
                      <m:sub>
                        <m:r>
                          <a:rPr kumimoji="0" lang="en-US" sz="1800" b="0" i="1" u="none" strike="noStrike" kern="1200" cap="none" spc="0" normalizeH="0" baseline="0" noProof="0">
                            <a:ln>
                              <a:noFill/>
                            </a:ln>
                            <a:solidFill>
                              <a:srgbClr val="000000"/>
                            </a:solidFill>
                            <a:effectLst/>
                            <a:uLnTx/>
                            <a:uFillTx/>
                            <a:latin typeface="Cambria Math" charset="0"/>
                            <a:ea typeface="Cambria Math" charset="0"/>
                            <a:cs typeface="Cambria Math" charset="0"/>
                          </a:rPr>
                          <m:t>𝐸</m:t>
                        </m:r>
                      </m:sub>
                    </m:sSub>
                  </m:oMath>
                </a14:m>
                <a:r>
                  <a:rPr kumimoji="0" lang="en-US" sz="1800" b="0" i="0" u="none" strike="noStrike" kern="1200" cap="none" spc="0" normalizeH="0" baseline="0" noProof="0" dirty="0">
                    <a:ln>
                      <a:noFill/>
                    </a:ln>
                    <a:solidFill>
                      <a:srgbClr val="000000"/>
                    </a:solidFill>
                    <a:effectLst/>
                    <a:uLnTx/>
                    <a:uFillTx/>
                    <a:latin typeface="Arial"/>
                    <a:ea typeface="+mn-ea"/>
                    <a:cs typeface="+mn-cs"/>
                  </a:rPr>
                  <a:t>=4.1442</a:t>
                </a:r>
              </a:p>
            </p:txBody>
          </p:sp>
        </mc:Choice>
        <mc:Fallback xmlns="">
          <p:sp>
            <p:nvSpPr>
              <p:cNvPr id="20" name="Rectangle 19">
                <a:extLst>
                  <a:ext uri="{FF2B5EF4-FFF2-40B4-BE49-F238E27FC236}">
                    <a16:creationId xmlns:a16="http://schemas.microsoft.com/office/drawing/2014/main" id="{77C0B7F4-8B56-5A46-BB6C-015D1D634C94}"/>
                  </a:ext>
                </a:extLst>
              </p:cNvPr>
              <p:cNvSpPr>
                <a:spLocks noRot="1" noChangeAspect="1" noMove="1" noResize="1" noEditPoints="1" noAdjustHandles="1" noChangeArrowheads="1" noChangeShapeType="1" noTextEdit="1"/>
              </p:cNvSpPr>
              <p:nvPr/>
            </p:nvSpPr>
            <p:spPr>
              <a:xfrm>
                <a:off x="6812818" y="3429000"/>
                <a:ext cx="1782347" cy="369332"/>
              </a:xfrm>
              <a:prstGeom prst="rect">
                <a:avLst/>
              </a:prstGeom>
              <a:blipFill>
                <a:blip r:embed="rId3"/>
                <a:stretch>
                  <a:fillRect t="-10000" r="-2128" b="-23333"/>
                </a:stretch>
              </a:blipFill>
            </p:spPr>
            <p:txBody>
              <a:bodyPr/>
              <a:lstStyle/>
              <a:p>
                <a:r>
                  <a:rPr lang="en-US">
                    <a:noFill/>
                  </a:rPr>
                  <a:t> </a:t>
                </a:r>
              </a:p>
            </p:txBody>
          </p:sp>
        </mc:Fallback>
      </mc:AlternateContent>
    </p:spTree>
    <p:extLst>
      <p:ext uri="{BB962C8B-B14F-4D97-AF65-F5344CB8AC3E}">
        <p14:creationId xmlns:p14="http://schemas.microsoft.com/office/powerpoint/2010/main" val="370968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500"/>
                                        <p:tgtEl>
                                          <p:spTgt spid="6">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fade">
                                      <p:cBhvr>
                                        <p:cTn id="13" dur="500"/>
                                        <p:tgtEl>
                                          <p:spTgt spid="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fade">
                                      <p:cBhvr>
                                        <p:cTn id="23" dur="500"/>
                                        <p:tgtEl>
                                          <p:spTgt spid="6">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6">
                                            <p:txEl>
                                              <p:pRg st="5" end="5"/>
                                            </p:txEl>
                                          </p:spTgt>
                                        </p:tgtEl>
                                        <p:attrNameLst>
                                          <p:attrName>style.visibility</p:attrName>
                                        </p:attrNameLst>
                                      </p:cBhvr>
                                      <p:to>
                                        <p:strVal val="visible"/>
                                      </p:to>
                                    </p:set>
                                    <p:animEffect transition="in" filter="fade">
                                      <p:cBhvr>
                                        <p:cTn id="26" dur="500"/>
                                        <p:tgtEl>
                                          <p:spTgt spid="6">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6">
                                            <p:txEl>
                                              <p:pRg st="7" end="7"/>
                                            </p:txEl>
                                          </p:spTgt>
                                        </p:tgtEl>
                                        <p:attrNameLst>
                                          <p:attrName>style.visibility</p:attrName>
                                        </p:attrNameLst>
                                      </p:cBhvr>
                                      <p:to>
                                        <p:strVal val="visible"/>
                                      </p:to>
                                    </p:set>
                                    <p:animEffect transition="in" filter="fade">
                                      <p:cBhvr>
                                        <p:cTn id="36" dur="500"/>
                                        <p:tgtEl>
                                          <p:spTgt spid="6">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6">
                                            <p:txEl>
                                              <p:pRg st="8" end="8"/>
                                            </p:txEl>
                                          </p:spTgt>
                                        </p:tgtEl>
                                        <p:attrNameLst>
                                          <p:attrName>style.visibility</p:attrName>
                                        </p:attrNameLst>
                                      </p:cBhvr>
                                      <p:to>
                                        <p:strVal val="visible"/>
                                      </p:to>
                                    </p:set>
                                    <p:animEffect transition="in" filter="fade">
                                      <p:cBhvr>
                                        <p:cTn id="41" dur="500"/>
                                        <p:tgtEl>
                                          <p:spTgt spid="6">
                                            <p:txEl>
                                              <p:pRg st="8" end="8"/>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6">
                                            <p:txEl>
                                              <p:pRg st="10" end="10"/>
                                            </p:txEl>
                                          </p:spTgt>
                                        </p:tgtEl>
                                        <p:attrNameLst>
                                          <p:attrName>style.visibility</p:attrName>
                                        </p:attrNameLst>
                                      </p:cBhvr>
                                      <p:to>
                                        <p:strVal val="visible"/>
                                      </p:to>
                                    </p:set>
                                    <p:animEffect transition="in" filter="fade">
                                      <p:cBhvr>
                                        <p:cTn id="46" dur="500"/>
                                        <p:tgtEl>
                                          <p:spTgt spid="6">
                                            <p:txEl>
                                              <p:pRg st="10" end="1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6">
                                            <p:txEl>
                                              <p:pRg st="11" end="11"/>
                                            </p:txEl>
                                          </p:spTgt>
                                        </p:tgtEl>
                                        <p:attrNameLst>
                                          <p:attrName>style.visibility</p:attrName>
                                        </p:attrNameLst>
                                      </p:cBhvr>
                                      <p:to>
                                        <p:strVal val="visible"/>
                                      </p:to>
                                    </p:set>
                                    <p:animEffect transition="in" filter="fade">
                                      <p:cBhvr>
                                        <p:cTn id="51" dur="500"/>
                                        <p:tgtEl>
                                          <p:spTgt spid="6">
                                            <p:txEl>
                                              <p:pRg st="11" end="11"/>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6">
                                            <p:txEl>
                                              <p:pRg st="13" end="13"/>
                                            </p:txEl>
                                          </p:spTgt>
                                        </p:tgtEl>
                                        <p:attrNameLst>
                                          <p:attrName>style.visibility</p:attrName>
                                        </p:attrNameLst>
                                      </p:cBhvr>
                                      <p:to>
                                        <p:strVal val="visible"/>
                                      </p:to>
                                    </p:set>
                                    <p:animEffect transition="in" filter="fade">
                                      <p:cBhvr>
                                        <p:cTn id="56" dur="500"/>
                                        <p:tgtEl>
                                          <p:spTgt spid="6">
                                            <p:txEl>
                                              <p:pRg st="13" end="13"/>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6">
                                            <p:txEl>
                                              <p:pRg st="14" end="14"/>
                                            </p:txEl>
                                          </p:spTgt>
                                        </p:tgtEl>
                                        <p:attrNameLst>
                                          <p:attrName>style.visibility</p:attrName>
                                        </p:attrNameLst>
                                      </p:cBhvr>
                                      <p:to>
                                        <p:strVal val="visible"/>
                                      </p:to>
                                    </p:set>
                                    <p:animEffect transition="in" filter="fade">
                                      <p:cBhvr>
                                        <p:cTn id="61" dur="500"/>
                                        <p:tgtEl>
                                          <p:spTgt spid="6">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Body Slides">
  <a:themeElements>
    <a:clrScheme name="Southern Methodist University palette">
      <a:dk1>
        <a:srgbClr val="000000"/>
      </a:dk1>
      <a:lt1>
        <a:srgbClr val="FFFFFF"/>
      </a:lt1>
      <a:dk2>
        <a:srgbClr val="303651"/>
      </a:dk2>
      <a:lt2>
        <a:srgbClr val="8EB8E5"/>
      </a:lt2>
      <a:accent1>
        <a:srgbClr val="344CA1"/>
      </a:accent1>
      <a:accent2>
        <a:srgbClr val="DDCBA3"/>
      </a:accent2>
      <a:accent3>
        <a:srgbClr val="CC0034"/>
      </a:accent3>
      <a:accent4>
        <a:srgbClr val="928981"/>
      </a:accent4>
      <a:accent5>
        <a:srgbClr val="F9CA12"/>
      </a:accent5>
      <a:accent6>
        <a:srgbClr val="404041"/>
      </a:accent6>
      <a:hlink>
        <a:srgbClr val="0562C1"/>
      </a:hlink>
      <a:folHlink>
        <a:srgbClr val="0563C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879</Words>
  <Application>Microsoft Macintosh PowerPoint</Application>
  <PresentationFormat>Widescreen</PresentationFormat>
  <Paragraphs>248</Paragraphs>
  <Slides>8</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Aptos</vt:lpstr>
      <vt:lpstr>Aptos Display</vt:lpstr>
      <vt:lpstr>Arial</vt:lpstr>
      <vt:lpstr>Calibri</vt:lpstr>
      <vt:lpstr>Cambria Math</vt:lpstr>
      <vt:lpstr>Wingdings</vt:lpstr>
      <vt:lpstr>Office Theme</vt:lpstr>
      <vt:lpstr>1_Body Slides</vt:lpstr>
      <vt:lpstr>DSC 80 Discussion #2</vt:lpstr>
      <vt:lpstr>THE LOTTERY! </vt:lpstr>
      <vt:lpstr>Break Out!</vt:lpstr>
      <vt:lpstr>Creativity Study</vt:lpstr>
      <vt:lpstr>Creativity Study: Pvalue</vt:lpstr>
      <vt:lpstr>Creativity Study</vt:lpstr>
      <vt:lpstr>Creativity Study</vt:lpstr>
      <vt:lpstr>Creativity Study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Sadler, Bivin Philip</dc:creator>
  <cp:lastModifiedBy>Sadler, Bivin Philip</cp:lastModifiedBy>
  <cp:revision>1</cp:revision>
  <dcterms:created xsi:type="dcterms:W3CDTF">2025-08-17T22:23:52Z</dcterms:created>
  <dcterms:modified xsi:type="dcterms:W3CDTF">2025-08-17T22:33:41Z</dcterms:modified>
</cp:coreProperties>
</file>